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Arial Black" panose="020B0A04020102020204" pitchFamily="34" charset="0"/>
      <p:bold r:id="rId9"/>
    </p:embeddedFont>
    <p:embeddedFont>
      <p:font typeface="Bahnschrift Condensed" panose="020B0502040204020203" pitchFamily="34" charset="0"/>
      <p:regular r:id="rId10"/>
      <p:bold r:id="rId11"/>
    </p:embeddedFont>
    <p:embeddedFont>
      <p:font typeface="Bahnschrift Light" panose="020B0502040204020203" pitchFamily="34" charset="0"/>
      <p:regular r:id="rId12"/>
    </p:embeddedFont>
    <p:embeddedFont>
      <p:font typeface="Bahnschrift SemiBold Condensed" panose="020B0502040204020203" pitchFamily="34" charset="0"/>
      <p:bold r:id="rId13"/>
    </p:embeddedFont>
    <p:embeddedFont>
      <p:font typeface="Plus Jakarta Sans"/>
      <p:bold r:id="rId14"/>
      <p:italic r:id="rId15"/>
    </p:embeddedFont>
    <p:embeddedFont>
      <p:font typeface="Showcard Gothic" panose="04020904020102020604" pitchFamily="82" charset="0"/>
      <p:regular r:id="rId16"/>
    </p:embeddedFont>
    <p:embeddedFont>
      <p:font typeface="Space Grotesk"/>
      <p:bold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21414"/>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762000" y="5295900"/>
            <a:ext cx="10668000" cy="990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4" name="Rectangle 3"/>
          <p:cNvSpPr/>
          <p:nvPr/>
        </p:nvSpPr>
        <p:spPr>
          <a:xfrm>
            <a:off x="762000" y="5295900"/>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pic>
        <p:nvPicPr>
          <p:cNvPr id="5" name="Picture 4" descr="image.png"/>
          <p:cNvPicPr>
            <a:picLocks noChangeAspect="1"/>
          </p:cNvPicPr>
          <p:nvPr/>
        </p:nvPicPr>
        <p:blipFill>
          <a:blip r:embed="rId3"/>
          <a:stretch>
            <a:fillRect/>
          </a:stretch>
        </p:blipFill>
        <p:spPr>
          <a:xfrm>
            <a:off x="762000" y="571500"/>
            <a:ext cx="228600" cy="304800"/>
          </a:xfrm>
          <a:prstGeom prst="rect">
            <a:avLst/>
          </a:prstGeom>
        </p:spPr>
      </p:pic>
      <p:sp>
        <p:nvSpPr>
          <p:cNvPr id="6" name="TextBox 5"/>
          <p:cNvSpPr txBox="1"/>
          <p:nvPr/>
        </p:nvSpPr>
        <p:spPr>
          <a:xfrm>
            <a:off x="762000" y="1104900"/>
            <a:ext cx="8037457" cy="525785"/>
          </a:xfrm>
          <a:prstGeom prst="rect">
            <a:avLst/>
          </a:prstGeom>
          <a:noFill/>
        </p:spPr>
        <p:txBody>
          <a:bodyPr wrap="none" lIns="0" tIns="0" rIns="0" bIns="0" anchor="t">
            <a:spAutoFit/>
          </a:bodyPr>
          <a:lstStyle/>
          <a:p>
            <a:pPr algn="l">
              <a:lnSpc>
                <a:spcPts val="4140"/>
              </a:lnSpc>
            </a:pPr>
            <a:r>
              <a:rPr sz="3600" b="1" i="0" u="none">
                <a:solidFill>
                  <a:srgbClr val="FFFFFF"/>
                </a:solidFill>
                <a:latin typeface="Bahnschrift Light" panose="020B0502040204020203" pitchFamily="34" charset="0"/>
              </a:rPr>
              <a:t>Blood Bank Inventory &amp; Donor Matcher</a:t>
            </a:r>
          </a:p>
        </p:txBody>
      </p:sp>
      <p:sp>
        <p:nvSpPr>
          <p:cNvPr id="7" name="TextBox 6"/>
          <p:cNvSpPr txBox="1"/>
          <p:nvPr/>
        </p:nvSpPr>
        <p:spPr>
          <a:xfrm>
            <a:off x="762000" y="1782960"/>
            <a:ext cx="7239000" cy="476250"/>
          </a:xfrm>
          <a:prstGeom prst="rect">
            <a:avLst/>
          </a:prstGeom>
          <a:noFill/>
        </p:spPr>
        <p:txBody>
          <a:bodyPr wrap="square" lIns="0" tIns="0" rIns="0" bIns="0" anchor="t">
            <a:spAutoFit/>
          </a:bodyPr>
          <a:lstStyle/>
          <a:p>
            <a:pPr algn="l"/>
            <a:r>
              <a:rPr sz="1500" b="0" i="0" u="none">
                <a:solidFill>
                  <a:srgbClr val="FECDD3"/>
                </a:solidFill>
                <a:latin typeface="Bahnschrift Light" panose="020B0502040204020203" pitchFamily="34" charset="0"/>
              </a:rPr>
              <a:t>A Centralized Management Platform for Real-Time Stock Tracking &amp; Compatible Donor Coordination</a:t>
            </a:r>
          </a:p>
        </p:txBody>
      </p:sp>
      <p:sp>
        <p:nvSpPr>
          <p:cNvPr id="8" name="TextBox 7"/>
          <p:cNvSpPr txBox="1"/>
          <p:nvPr/>
        </p:nvSpPr>
        <p:spPr>
          <a:xfrm>
            <a:off x="1104900" y="623887"/>
            <a:ext cx="2997615" cy="184666"/>
          </a:xfrm>
          <a:prstGeom prst="rect">
            <a:avLst/>
          </a:prstGeom>
          <a:noFill/>
        </p:spPr>
        <p:txBody>
          <a:bodyPr wrap="none" lIns="0" tIns="0" rIns="0" bIns="0" anchor="t">
            <a:spAutoFit/>
          </a:bodyPr>
          <a:lstStyle/>
          <a:p>
            <a:pPr algn="l"/>
            <a:r>
              <a:rPr sz="1200" b="1" i="0" u="none">
                <a:solidFill>
                  <a:srgbClr val="FCA5A5"/>
                </a:solidFill>
                <a:latin typeface="Bahnschrift Light" panose="020B0502040204020203" pitchFamily="34" charset="0"/>
              </a:rPr>
              <a:t>OBJECT ORIENTED PROGRAMMING SYSTEM</a:t>
            </a:r>
          </a:p>
        </p:txBody>
      </p:sp>
      <p:sp>
        <p:nvSpPr>
          <p:cNvPr id="9" name="TextBox 8"/>
          <p:cNvSpPr txBox="1"/>
          <p:nvPr/>
        </p:nvSpPr>
        <p:spPr>
          <a:xfrm>
            <a:off x="762000" y="5610225"/>
            <a:ext cx="1591782" cy="161583"/>
          </a:xfrm>
          <a:prstGeom prst="rect">
            <a:avLst/>
          </a:prstGeom>
          <a:noFill/>
        </p:spPr>
        <p:txBody>
          <a:bodyPr wrap="none" lIns="0" tIns="0" rIns="0" bIns="0" anchor="t">
            <a:spAutoFit/>
          </a:bodyPr>
          <a:lstStyle/>
          <a:p>
            <a:pPr algn="l"/>
            <a:r>
              <a:rPr sz="1050" b="1" i="0" u="none">
                <a:solidFill>
                  <a:srgbClr val="FCA5A5"/>
                </a:solidFill>
                <a:latin typeface="Bahnschrift Light" panose="020B0502040204020203" pitchFamily="34" charset="0"/>
              </a:rPr>
              <a:t>PROJECT TEAM MEMBERS</a:t>
            </a:r>
          </a:p>
        </p:txBody>
      </p:sp>
      <p:sp>
        <p:nvSpPr>
          <p:cNvPr id="10" name="TextBox 9"/>
          <p:cNvSpPr txBox="1"/>
          <p:nvPr/>
        </p:nvSpPr>
        <p:spPr>
          <a:xfrm>
            <a:off x="11154283" y="5915025"/>
            <a:ext cx="275717" cy="161583"/>
          </a:xfrm>
          <a:prstGeom prst="rect">
            <a:avLst/>
          </a:prstGeom>
          <a:noFill/>
        </p:spPr>
        <p:txBody>
          <a:bodyPr wrap="none" lIns="0" tIns="0" rIns="0" bIns="0" anchor="t">
            <a:spAutoFit/>
          </a:bodyPr>
          <a:lstStyle/>
          <a:p>
            <a:pPr algn="r"/>
            <a:r>
              <a:rPr sz="1050" b="1" i="0" u="none">
                <a:solidFill>
                  <a:srgbClr val="FCA5A5"/>
                </a:solidFill>
                <a:latin typeface="Bahnschrift Light" panose="020B0502040204020203" pitchFamily="34" charset="0"/>
              </a:rPr>
              <a:t>Date</a:t>
            </a:r>
          </a:p>
        </p:txBody>
      </p:sp>
      <p:sp>
        <p:nvSpPr>
          <p:cNvPr id="11" name="TextBox 10"/>
          <p:cNvSpPr txBox="1"/>
          <p:nvPr/>
        </p:nvSpPr>
        <p:spPr>
          <a:xfrm>
            <a:off x="10665368" y="6086475"/>
            <a:ext cx="764632" cy="184666"/>
          </a:xfrm>
          <a:prstGeom prst="rect">
            <a:avLst/>
          </a:prstGeom>
          <a:noFill/>
        </p:spPr>
        <p:txBody>
          <a:bodyPr wrap="none" lIns="0" tIns="0" rIns="0" bIns="0" anchor="t">
            <a:spAutoFit/>
          </a:bodyPr>
          <a:lstStyle/>
          <a:p>
            <a:pPr algn="r"/>
            <a:r>
              <a:rPr sz="1200" b="1" i="0" u="none">
                <a:solidFill>
                  <a:srgbClr val="FFFFFF"/>
                </a:solidFill>
                <a:latin typeface="Bahnschrift Light" panose="020B0502040204020203" pitchFamily="34" charset="0"/>
              </a:rPr>
              <a:t>15-09-2026</a:t>
            </a:r>
          </a:p>
        </p:txBody>
      </p:sp>
      <p:sp>
        <p:nvSpPr>
          <p:cNvPr id="12" name="TextBox 11"/>
          <p:cNvSpPr txBox="1"/>
          <p:nvPr/>
        </p:nvSpPr>
        <p:spPr>
          <a:xfrm>
            <a:off x="762000" y="5895975"/>
            <a:ext cx="956993" cy="207749"/>
          </a:xfrm>
          <a:prstGeom prst="rect">
            <a:avLst/>
          </a:prstGeom>
          <a:noFill/>
        </p:spPr>
        <p:txBody>
          <a:bodyPr wrap="none" lIns="0" tIns="0" rIns="0" bIns="0" anchor="t">
            <a:spAutoFit/>
          </a:bodyPr>
          <a:lstStyle/>
          <a:p>
            <a:pPr algn="l"/>
            <a:r>
              <a:rPr sz="1350" b="1" i="0" u="none">
                <a:solidFill>
                  <a:srgbClr val="FFFFFF"/>
                </a:solidFill>
                <a:latin typeface="Bahnschrift Light" panose="020B0502040204020203" pitchFamily="34" charset="0"/>
              </a:rPr>
              <a:t>Vikas Chinta</a:t>
            </a:r>
          </a:p>
        </p:txBody>
      </p:sp>
      <p:sp>
        <p:nvSpPr>
          <p:cNvPr id="13" name="TextBox 12"/>
          <p:cNvSpPr txBox="1"/>
          <p:nvPr/>
        </p:nvSpPr>
        <p:spPr>
          <a:xfrm>
            <a:off x="762000" y="6115050"/>
            <a:ext cx="1194238" cy="161583"/>
          </a:xfrm>
          <a:prstGeom prst="rect">
            <a:avLst/>
          </a:prstGeom>
          <a:noFill/>
        </p:spPr>
        <p:txBody>
          <a:bodyPr wrap="none" lIns="0" tIns="0" rIns="0" bIns="0" anchor="t">
            <a:spAutoFit/>
          </a:bodyPr>
          <a:lstStyle/>
          <a:p>
            <a:pPr algn="l"/>
            <a:r>
              <a:rPr sz="1050" b="0" i="0" u="none">
                <a:solidFill>
                  <a:srgbClr val="FECDD3"/>
                </a:solidFill>
                <a:latin typeface="Bahnschrift Light" panose="020B0502040204020203" pitchFamily="34" charset="0"/>
              </a:rPr>
              <a:t>Roll No: 2620030391</a:t>
            </a:r>
          </a:p>
        </p:txBody>
      </p:sp>
      <p:sp>
        <p:nvSpPr>
          <p:cNvPr id="14" name="TextBox 13"/>
          <p:cNvSpPr txBox="1"/>
          <p:nvPr/>
        </p:nvSpPr>
        <p:spPr>
          <a:xfrm>
            <a:off x="2438400" y="5895975"/>
            <a:ext cx="594715" cy="207749"/>
          </a:xfrm>
          <a:prstGeom prst="rect">
            <a:avLst/>
          </a:prstGeom>
          <a:noFill/>
        </p:spPr>
        <p:txBody>
          <a:bodyPr wrap="none" lIns="0" tIns="0" rIns="0" bIns="0" anchor="t">
            <a:spAutoFit/>
          </a:bodyPr>
          <a:lstStyle/>
          <a:p>
            <a:pPr algn="l"/>
            <a:r>
              <a:rPr sz="1350" b="1" i="0" u="none">
                <a:solidFill>
                  <a:srgbClr val="FFFFFF"/>
                </a:solidFill>
                <a:latin typeface="Bahnschrift Light" panose="020B0502040204020203" pitchFamily="34" charset="0"/>
              </a:rPr>
              <a:t>M Vinay</a:t>
            </a:r>
          </a:p>
        </p:txBody>
      </p:sp>
      <p:sp>
        <p:nvSpPr>
          <p:cNvPr id="15" name="TextBox 14"/>
          <p:cNvSpPr txBox="1"/>
          <p:nvPr/>
        </p:nvSpPr>
        <p:spPr>
          <a:xfrm>
            <a:off x="2438400" y="6115050"/>
            <a:ext cx="1223092" cy="161583"/>
          </a:xfrm>
          <a:prstGeom prst="rect">
            <a:avLst/>
          </a:prstGeom>
          <a:noFill/>
        </p:spPr>
        <p:txBody>
          <a:bodyPr wrap="none" lIns="0" tIns="0" rIns="0" bIns="0" anchor="t">
            <a:spAutoFit/>
          </a:bodyPr>
          <a:lstStyle/>
          <a:p>
            <a:pPr algn="l"/>
            <a:r>
              <a:rPr sz="1050" b="0" i="0" u="none">
                <a:solidFill>
                  <a:srgbClr val="FECDD3"/>
                </a:solidFill>
                <a:latin typeface="Bahnschrift Light" panose="020B0502040204020203" pitchFamily="34" charset="0"/>
              </a:rPr>
              <a:t>Roll No: 2620030387</a:t>
            </a:r>
          </a:p>
        </p:txBody>
      </p:sp>
      <p:sp>
        <p:nvSpPr>
          <p:cNvPr id="16" name="TextBox 15"/>
          <p:cNvSpPr txBox="1"/>
          <p:nvPr/>
        </p:nvSpPr>
        <p:spPr>
          <a:xfrm>
            <a:off x="4152900" y="5895975"/>
            <a:ext cx="788677" cy="207749"/>
          </a:xfrm>
          <a:prstGeom prst="rect">
            <a:avLst/>
          </a:prstGeom>
          <a:noFill/>
        </p:spPr>
        <p:txBody>
          <a:bodyPr wrap="none" lIns="0" tIns="0" rIns="0" bIns="0" anchor="t">
            <a:spAutoFit/>
          </a:bodyPr>
          <a:lstStyle/>
          <a:p>
            <a:pPr algn="l"/>
            <a:r>
              <a:rPr sz="1350" b="1" i="0" u="none">
                <a:solidFill>
                  <a:srgbClr val="FFFFFF"/>
                </a:solidFill>
                <a:latin typeface="Bahnschrift Light" panose="020B0502040204020203" pitchFamily="34" charset="0"/>
              </a:rPr>
              <a:t>Harivansh</a:t>
            </a:r>
          </a:p>
        </p:txBody>
      </p:sp>
      <p:sp>
        <p:nvSpPr>
          <p:cNvPr id="17" name="TextBox 16"/>
          <p:cNvSpPr txBox="1"/>
          <p:nvPr/>
        </p:nvSpPr>
        <p:spPr>
          <a:xfrm>
            <a:off x="4152900" y="6115050"/>
            <a:ext cx="1207062" cy="161583"/>
          </a:xfrm>
          <a:prstGeom prst="rect">
            <a:avLst/>
          </a:prstGeom>
          <a:noFill/>
        </p:spPr>
        <p:txBody>
          <a:bodyPr wrap="none" lIns="0" tIns="0" rIns="0" bIns="0" anchor="t">
            <a:spAutoFit/>
          </a:bodyPr>
          <a:lstStyle/>
          <a:p>
            <a:pPr algn="l"/>
            <a:r>
              <a:rPr sz="1050" b="0" i="0" u="none">
                <a:solidFill>
                  <a:srgbClr val="FECDD3"/>
                </a:solidFill>
                <a:latin typeface="Bahnschrift Light" panose="020B0502040204020203" pitchFamily="34" charset="0"/>
              </a:rPr>
              <a:t>Roll No: 2620040183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048875" y="504825"/>
            <a:ext cx="1533525"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9600" y="1066800"/>
            <a:ext cx="38100" cy="1395412"/>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2"/>
          <a:stretch>
            <a:fillRect/>
          </a:stretch>
        </p:blipFill>
        <p:spPr>
          <a:xfrm>
            <a:off x="8388626" y="885826"/>
            <a:ext cx="3623144" cy="3200400"/>
          </a:xfrm>
          <a:prstGeom prst="rect">
            <a:avLst/>
          </a:prstGeom>
        </p:spPr>
      </p:pic>
      <p:pic>
        <p:nvPicPr>
          <p:cNvPr id="13" name="Picture 12" descr="image.png"/>
          <p:cNvPicPr>
            <a:picLocks noChangeAspect="1"/>
          </p:cNvPicPr>
          <p:nvPr/>
        </p:nvPicPr>
        <p:blipFill>
          <a:blip r:embed="rId3"/>
          <a:stretch>
            <a:fillRect/>
          </a:stretch>
        </p:blipFill>
        <p:spPr>
          <a:xfrm>
            <a:off x="10163175" y="581025"/>
            <a:ext cx="104775" cy="133350"/>
          </a:xfrm>
          <a:prstGeom prst="rect">
            <a:avLst/>
          </a:prstGeom>
        </p:spPr>
      </p:pic>
      <p:pic>
        <p:nvPicPr>
          <p:cNvPr id="14" name="Picture 13" descr="image.png"/>
          <p:cNvPicPr>
            <a:picLocks noChangeAspect="1"/>
          </p:cNvPicPr>
          <p:nvPr/>
        </p:nvPicPr>
        <p:blipFill>
          <a:blip r:embed="rId4"/>
          <a:stretch>
            <a:fillRect/>
          </a:stretch>
        </p:blipFill>
        <p:spPr>
          <a:xfrm>
            <a:off x="8485372" y="1076326"/>
            <a:ext cx="3087502" cy="3086100"/>
          </a:xfrm>
          <a:prstGeom prst="rect">
            <a:avLst/>
          </a:prstGeom>
        </p:spPr>
      </p:pic>
      <p:sp>
        <p:nvSpPr>
          <p:cNvPr id="15" name="TextBox 14"/>
          <p:cNvSpPr txBox="1"/>
          <p:nvPr/>
        </p:nvSpPr>
        <p:spPr>
          <a:xfrm>
            <a:off x="609600" y="6248400"/>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Blood Bank Inventory &amp; Donor Matcher</a:t>
            </a:r>
          </a:p>
        </p:txBody>
      </p:sp>
      <p:sp>
        <p:nvSpPr>
          <p:cNvPr id="16" name="TextBox 15"/>
          <p:cNvSpPr txBox="1"/>
          <p:nvPr/>
        </p:nvSpPr>
        <p:spPr>
          <a:xfrm>
            <a:off x="11191875" y="6248400"/>
            <a:ext cx="676275" cy="152400"/>
          </a:xfrm>
          <a:prstGeom prst="rect">
            <a:avLst/>
          </a:prstGeom>
          <a:noFill/>
        </p:spPr>
        <p:txBody>
          <a:bodyPr wrap="none" lIns="0" tIns="0" rIns="0" bIns="0" anchor="t">
            <a:spAutoFit/>
          </a:bodyPr>
          <a:lstStyle/>
          <a:p>
            <a:pPr algn="l"/>
            <a:r>
              <a:rPr sz="975" b="0" i="0" u="none">
                <a:solidFill>
                  <a:srgbClr val="64748B"/>
                </a:solidFill>
                <a:latin typeface="Plus Jakarta Sans"/>
              </a:rPr>
              <a:t>Slide 2</a:t>
            </a:r>
          </a:p>
        </p:txBody>
      </p:sp>
      <p:sp>
        <p:nvSpPr>
          <p:cNvPr id="17" name="TextBox 16"/>
          <p:cNvSpPr txBox="1"/>
          <p:nvPr/>
        </p:nvSpPr>
        <p:spPr>
          <a:xfrm>
            <a:off x="10325100" y="561975"/>
            <a:ext cx="1238250" cy="171450"/>
          </a:xfrm>
          <a:prstGeom prst="rect">
            <a:avLst/>
          </a:prstGeom>
          <a:noFill/>
        </p:spPr>
        <p:txBody>
          <a:bodyPr wrap="square" lIns="0" tIns="0" rIns="0" bIns="0" anchor="ctr">
            <a:spAutoFit/>
          </a:bodyPr>
          <a:lstStyle/>
          <a:p>
            <a:pPr algn="l"/>
            <a:r>
              <a:rPr sz="1050" b="1" i="0" u="none">
                <a:solidFill>
                  <a:srgbClr val="991B1B"/>
                </a:solidFill>
                <a:latin typeface="Plus Jakarta Sans"/>
              </a:rPr>
              <a:t>System Overview</a:t>
            </a:r>
          </a:p>
        </p:txBody>
      </p:sp>
      <p:sp>
        <p:nvSpPr>
          <p:cNvPr id="18" name="TextBox 17"/>
          <p:cNvSpPr txBox="1"/>
          <p:nvPr/>
        </p:nvSpPr>
        <p:spPr>
          <a:xfrm>
            <a:off x="800100" y="457200"/>
            <a:ext cx="3200400" cy="381000"/>
          </a:xfrm>
          <a:prstGeom prst="rect">
            <a:avLst/>
          </a:prstGeom>
          <a:noFill/>
        </p:spPr>
        <p:txBody>
          <a:bodyPr wrap="none" lIns="0" tIns="0" rIns="0" bIns="0" anchor="t">
            <a:spAutoFit/>
          </a:bodyPr>
          <a:lstStyle/>
          <a:p>
            <a:pPr algn="l"/>
            <a:r>
              <a:rPr sz="2400" b="1" i="0" u="none">
                <a:solidFill>
                  <a:srgbClr val="0F172A"/>
                </a:solidFill>
                <a:latin typeface="Space Grotesk"/>
              </a:rPr>
              <a:t>Project Abstract</a:t>
            </a:r>
          </a:p>
        </p:txBody>
      </p:sp>
      <p:sp>
        <p:nvSpPr>
          <p:cNvPr id="20" name="TextBox 19"/>
          <p:cNvSpPr txBox="1"/>
          <p:nvPr/>
        </p:nvSpPr>
        <p:spPr>
          <a:xfrm>
            <a:off x="744446" y="1035241"/>
            <a:ext cx="7402664" cy="4051109"/>
          </a:xfrm>
          <a:prstGeom prst="rect">
            <a:avLst/>
          </a:prstGeom>
          <a:noFill/>
        </p:spPr>
        <p:txBody>
          <a:bodyPr wrap="square" lIns="0" tIns="0" rIns="0" bIns="0" anchor="t">
            <a:spAutoFit/>
          </a:bodyPr>
          <a:lstStyle/>
          <a:p>
            <a:r>
              <a:rPr lang="en-IN" sz="1600" dirty="0"/>
              <a:t>The Blood Bank Inventory &amp; Donor Matcher is a proposed system designed to improve blood stock management and help connect blood banks with potential donors. Manual recordkeeping can lead to delays in locating blood units, inaccurate inventory records, and wastage due to expiry. This system aims to address these challenges through a centralized platform for managing blood inventory, donor information, and blood requests.</a:t>
            </a:r>
          </a:p>
          <a:p>
            <a:r>
              <a:rPr lang="en-IN" sz="1600" dirty="0"/>
              <a:t>The system tracks blood units by blood group, quantity, collection date, and expiry date, enabling staff to monitor availability and prioritize units approaching expiration. The donor matching feature identifies potential donors based on blood group, location, availability, and recorded donation history. Low-stock alerts and request tracking support timely coordination between blood banks, hospitals, and donors. Donor eligibility and transfusion compatibility remain subject to clinical screening and laboratory testing.</a:t>
            </a:r>
          </a:p>
          <a:p>
            <a:r>
              <a:rPr lang="en-IN" sz="1600" dirty="0"/>
              <a:t>By reducing administrative effort and improving access to accurate information, the proposed system aims to minimize blood wastage, support donor coordination, and assist in the timely </a:t>
            </a:r>
            <a:r>
              <a:rPr lang="en-IN" sz="1600" dirty="0" err="1"/>
              <a:t>fulfillment</a:t>
            </a:r>
            <a:r>
              <a:rPr lang="en-IN" sz="1600" dirty="0"/>
              <a:t> of routine and emergency blood requests.</a:t>
            </a:r>
          </a:p>
          <a:p>
            <a:br>
              <a:rPr lang="en-IN" sz="1200" dirty="0"/>
            </a:br>
            <a:endParaRPr sz="1125" b="0" i="0" u="none" dirty="0">
              <a:solidFill>
                <a:srgbClr val="334155"/>
              </a:solidFill>
              <a:latin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667875" y="504825"/>
            <a:ext cx="1914525"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193059" y="1066800"/>
            <a:ext cx="6389340" cy="1009650"/>
          </a:xfrm>
          <a:prstGeom prst="roundRect">
            <a:avLst>
              <a:gd name="adj" fmla="val 11320"/>
            </a:avLst>
          </a:prstGeom>
          <a:solidFill>
            <a:srgbClr val="FFF5F5"/>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Black" panose="020B0A04020102020204" pitchFamily="34" charset="0"/>
            </a:endParaRPr>
          </a:p>
        </p:txBody>
      </p:sp>
      <p:sp>
        <p:nvSpPr>
          <p:cNvPr id="7" name="Rounded Rectangle 6"/>
          <p:cNvSpPr/>
          <p:nvPr/>
        </p:nvSpPr>
        <p:spPr>
          <a:xfrm>
            <a:off x="5193059" y="2228850"/>
            <a:ext cx="6389340" cy="1009650"/>
          </a:xfrm>
          <a:prstGeom prst="roundRect">
            <a:avLst>
              <a:gd name="adj" fmla="val 11320"/>
            </a:avLst>
          </a:prstGeom>
          <a:solidFill>
            <a:srgbClr val="FFF5F5"/>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Black" panose="020B0A04020102020204" pitchFamily="34" charset="0"/>
            </a:endParaRPr>
          </a:p>
        </p:txBody>
      </p:sp>
      <p:sp>
        <p:nvSpPr>
          <p:cNvPr id="8" name="Rounded Rectangle 7"/>
          <p:cNvSpPr/>
          <p:nvPr/>
        </p:nvSpPr>
        <p:spPr>
          <a:xfrm>
            <a:off x="5193059" y="3390900"/>
            <a:ext cx="6389340" cy="1009650"/>
          </a:xfrm>
          <a:prstGeom prst="roundRect">
            <a:avLst>
              <a:gd name="adj" fmla="val 11320"/>
            </a:avLst>
          </a:prstGeom>
          <a:solidFill>
            <a:srgbClr val="FFF5F5"/>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Black" panose="020B0A04020102020204" pitchFamily="34" charset="0"/>
            </a:endParaRPr>
          </a:p>
        </p:txBody>
      </p:sp>
      <p:pic>
        <p:nvPicPr>
          <p:cNvPr id="9" name="Picture 8" descr="image.png"/>
          <p:cNvPicPr>
            <a:picLocks noChangeAspect="1"/>
          </p:cNvPicPr>
          <p:nvPr/>
        </p:nvPicPr>
        <p:blipFill>
          <a:blip r:embed="rId2"/>
          <a:stretch>
            <a:fillRect/>
          </a:stretch>
        </p:blipFill>
        <p:spPr>
          <a:xfrm>
            <a:off x="609600" y="1066800"/>
            <a:ext cx="4278659" cy="4278659"/>
          </a:xfrm>
          <a:prstGeom prst="rect">
            <a:avLst/>
          </a:prstGeom>
        </p:spPr>
      </p:pic>
      <p:pic>
        <p:nvPicPr>
          <p:cNvPr id="10" name="Picture 9" descr="image.png"/>
          <p:cNvPicPr>
            <a:picLocks noChangeAspect="1"/>
          </p:cNvPicPr>
          <p:nvPr/>
        </p:nvPicPr>
        <p:blipFill>
          <a:blip r:embed="rId3"/>
          <a:stretch>
            <a:fillRect/>
          </a:stretch>
        </p:blipFill>
        <p:spPr>
          <a:xfrm>
            <a:off x="9782175" y="581025"/>
            <a:ext cx="133350" cy="133350"/>
          </a:xfrm>
          <a:prstGeom prst="rect">
            <a:avLst/>
          </a:prstGeom>
        </p:spPr>
      </p:pic>
      <p:pic>
        <p:nvPicPr>
          <p:cNvPr id="11" name="Picture 10" descr="image.png"/>
          <p:cNvPicPr>
            <a:picLocks noChangeAspect="1"/>
          </p:cNvPicPr>
          <p:nvPr/>
        </p:nvPicPr>
        <p:blipFill>
          <a:blip r:embed="rId4"/>
          <a:stretch>
            <a:fillRect/>
          </a:stretch>
        </p:blipFill>
        <p:spPr>
          <a:xfrm>
            <a:off x="619125" y="1076325"/>
            <a:ext cx="4259609" cy="4259609"/>
          </a:xfrm>
          <a:prstGeom prst="rect">
            <a:avLst/>
          </a:prstGeom>
        </p:spPr>
      </p:pic>
      <p:pic>
        <p:nvPicPr>
          <p:cNvPr id="12" name="Picture 11" descr="image.png"/>
          <p:cNvPicPr>
            <a:picLocks noChangeAspect="1"/>
          </p:cNvPicPr>
          <p:nvPr/>
        </p:nvPicPr>
        <p:blipFill>
          <a:blip r:embed="rId5"/>
          <a:stretch>
            <a:fillRect/>
          </a:stretch>
        </p:blipFill>
        <p:spPr>
          <a:xfrm>
            <a:off x="5393084" y="1285875"/>
            <a:ext cx="171450" cy="171450"/>
          </a:xfrm>
          <a:prstGeom prst="rect">
            <a:avLst/>
          </a:prstGeom>
        </p:spPr>
      </p:pic>
      <p:pic>
        <p:nvPicPr>
          <p:cNvPr id="13" name="Picture 12" descr="image.png"/>
          <p:cNvPicPr>
            <a:picLocks noChangeAspect="1"/>
          </p:cNvPicPr>
          <p:nvPr/>
        </p:nvPicPr>
        <p:blipFill>
          <a:blip r:embed="rId6"/>
          <a:stretch>
            <a:fillRect/>
          </a:stretch>
        </p:blipFill>
        <p:spPr>
          <a:xfrm>
            <a:off x="5393084" y="2447925"/>
            <a:ext cx="171450" cy="171450"/>
          </a:xfrm>
          <a:prstGeom prst="rect">
            <a:avLst/>
          </a:prstGeom>
        </p:spPr>
      </p:pic>
      <p:pic>
        <p:nvPicPr>
          <p:cNvPr id="14" name="Picture 13" descr="image.png"/>
          <p:cNvPicPr>
            <a:picLocks noChangeAspect="1"/>
          </p:cNvPicPr>
          <p:nvPr/>
        </p:nvPicPr>
        <p:blipFill>
          <a:blip r:embed="rId7"/>
          <a:stretch>
            <a:fillRect/>
          </a:stretch>
        </p:blipFill>
        <p:spPr>
          <a:xfrm>
            <a:off x="5393084" y="3609975"/>
            <a:ext cx="171450" cy="171450"/>
          </a:xfrm>
          <a:prstGeom prst="rect">
            <a:avLst/>
          </a:prstGeom>
        </p:spPr>
      </p:pic>
      <p:sp>
        <p:nvSpPr>
          <p:cNvPr id="15" name="TextBox 14"/>
          <p:cNvSpPr txBox="1"/>
          <p:nvPr/>
        </p:nvSpPr>
        <p:spPr>
          <a:xfrm>
            <a:off x="609600" y="6248400"/>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Blood Bank Inventory &amp; Donor Matcher</a:t>
            </a:r>
          </a:p>
        </p:txBody>
      </p:sp>
      <p:sp>
        <p:nvSpPr>
          <p:cNvPr id="16" name="TextBox 15"/>
          <p:cNvSpPr txBox="1"/>
          <p:nvPr/>
        </p:nvSpPr>
        <p:spPr>
          <a:xfrm>
            <a:off x="11191875" y="6248400"/>
            <a:ext cx="676275" cy="152400"/>
          </a:xfrm>
          <a:prstGeom prst="rect">
            <a:avLst/>
          </a:prstGeom>
          <a:noFill/>
        </p:spPr>
        <p:txBody>
          <a:bodyPr wrap="none" lIns="0" tIns="0" rIns="0" bIns="0" anchor="t">
            <a:spAutoFit/>
          </a:bodyPr>
          <a:lstStyle/>
          <a:p>
            <a:pPr algn="l"/>
            <a:r>
              <a:rPr sz="975" b="0" i="0" u="none">
                <a:solidFill>
                  <a:srgbClr val="64748B"/>
                </a:solidFill>
                <a:latin typeface="Plus Jakarta Sans"/>
              </a:rPr>
              <a:t>Slide 3</a:t>
            </a:r>
          </a:p>
        </p:txBody>
      </p:sp>
      <p:sp>
        <p:nvSpPr>
          <p:cNvPr id="17" name="TextBox 16"/>
          <p:cNvSpPr txBox="1"/>
          <p:nvPr/>
        </p:nvSpPr>
        <p:spPr>
          <a:xfrm>
            <a:off x="9972675" y="561975"/>
            <a:ext cx="1590675" cy="171450"/>
          </a:xfrm>
          <a:prstGeom prst="rect">
            <a:avLst/>
          </a:prstGeom>
          <a:noFill/>
        </p:spPr>
        <p:txBody>
          <a:bodyPr wrap="square" lIns="0" tIns="0" rIns="0" bIns="0" anchor="ctr">
            <a:spAutoFit/>
          </a:bodyPr>
          <a:lstStyle/>
          <a:p>
            <a:pPr algn="l"/>
            <a:r>
              <a:rPr sz="1050" b="1" i="0" u="none">
                <a:solidFill>
                  <a:srgbClr val="991B1B"/>
                </a:solidFill>
                <a:latin typeface="Plus Jakarta Sans"/>
              </a:rPr>
              <a:t>Operational Challenges</a:t>
            </a:r>
          </a:p>
        </p:txBody>
      </p:sp>
      <p:sp>
        <p:nvSpPr>
          <p:cNvPr id="18" name="TextBox 17"/>
          <p:cNvSpPr txBox="1"/>
          <p:nvPr/>
        </p:nvSpPr>
        <p:spPr>
          <a:xfrm>
            <a:off x="800100" y="457200"/>
            <a:ext cx="4778168" cy="369332"/>
          </a:xfrm>
          <a:prstGeom prst="rect">
            <a:avLst/>
          </a:prstGeom>
          <a:noFill/>
        </p:spPr>
        <p:txBody>
          <a:bodyPr wrap="none" lIns="0" tIns="0" rIns="0" bIns="0" anchor="t">
            <a:spAutoFit/>
          </a:bodyPr>
          <a:lstStyle/>
          <a:p>
            <a:pPr algn="l"/>
            <a:r>
              <a:rPr sz="2400" b="1" i="0" u="none" dirty="0">
                <a:solidFill>
                  <a:srgbClr val="0F172A"/>
                </a:solidFill>
                <a:latin typeface="Space Grotesk"/>
              </a:rPr>
              <a:t>Understanding </a:t>
            </a:r>
            <a:r>
              <a:rPr sz="2400" b="1" i="0" u="none" dirty="0">
                <a:solidFill>
                  <a:srgbClr val="0F172A"/>
                </a:solidFill>
                <a:latin typeface="Showcard Gothic" panose="04020904020102020604" pitchFamily="82" charset="0"/>
              </a:rPr>
              <a:t>Problem</a:t>
            </a:r>
            <a:r>
              <a:rPr sz="2400" b="1" i="0" u="none" dirty="0">
                <a:solidFill>
                  <a:srgbClr val="0F172A"/>
                </a:solidFill>
                <a:latin typeface="Space Grotesk"/>
              </a:rPr>
              <a:t> Statement</a:t>
            </a:r>
          </a:p>
        </p:txBody>
      </p:sp>
      <p:sp>
        <p:nvSpPr>
          <p:cNvPr id="19" name="TextBox 18"/>
          <p:cNvSpPr txBox="1"/>
          <p:nvPr/>
        </p:nvSpPr>
        <p:spPr>
          <a:xfrm>
            <a:off x="5393084" y="1533525"/>
            <a:ext cx="6084540" cy="323165"/>
          </a:xfrm>
          <a:prstGeom prst="rect">
            <a:avLst/>
          </a:prstGeom>
          <a:noFill/>
        </p:spPr>
        <p:txBody>
          <a:bodyPr wrap="square" lIns="0" tIns="0" rIns="0" bIns="0" anchor="t">
            <a:spAutoFit/>
          </a:bodyPr>
          <a:lstStyle/>
          <a:p>
            <a:pPr algn="l"/>
            <a:r>
              <a:rPr sz="1050" b="0" i="0" u="none">
                <a:solidFill>
                  <a:srgbClr val="475569"/>
                </a:solidFill>
                <a:latin typeface="Arial Black" panose="020B0A04020102020204" pitchFamily="34" charset="0"/>
              </a:rPr>
              <a:t>Paper logs lead to inaccurate inventory counts, unrecorded dispatches, and unexpected stock shortages during urgent requirements.</a:t>
            </a:r>
          </a:p>
        </p:txBody>
      </p:sp>
      <p:sp>
        <p:nvSpPr>
          <p:cNvPr id="20" name="TextBox 19"/>
          <p:cNvSpPr txBox="1"/>
          <p:nvPr/>
        </p:nvSpPr>
        <p:spPr>
          <a:xfrm>
            <a:off x="5393084" y="2695575"/>
            <a:ext cx="6084540" cy="323165"/>
          </a:xfrm>
          <a:prstGeom prst="rect">
            <a:avLst/>
          </a:prstGeom>
          <a:noFill/>
        </p:spPr>
        <p:txBody>
          <a:bodyPr wrap="square" lIns="0" tIns="0" rIns="0" bIns="0" anchor="t">
            <a:spAutoFit/>
          </a:bodyPr>
          <a:lstStyle/>
          <a:p>
            <a:pPr algn="l"/>
            <a:r>
              <a:rPr sz="1050" b="0" i="0" u="none">
                <a:solidFill>
                  <a:srgbClr val="475569"/>
                </a:solidFill>
                <a:latin typeface="Arial Black" panose="020B0A04020102020204" pitchFamily="34" charset="0"/>
              </a:rPr>
              <a:t>Locating specific blood types or contacting suitable donors manually consumes critical time during medical emergencies.</a:t>
            </a:r>
          </a:p>
        </p:txBody>
      </p:sp>
      <p:sp>
        <p:nvSpPr>
          <p:cNvPr id="21" name="TextBox 20"/>
          <p:cNvSpPr txBox="1"/>
          <p:nvPr/>
        </p:nvSpPr>
        <p:spPr>
          <a:xfrm>
            <a:off x="5393084" y="3857625"/>
            <a:ext cx="6084540" cy="323165"/>
          </a:xfrm>
          <a:prstGeom prst="rect">
            <a:avLst/>
          </a:prstGeom>
          <a:noFill/>
        </p:spPr>
        <p:txBody>
          <a:bodyPr wrap="square" lIns="0" tIns="0" rIns="0" bIns="0" anchor="t">
            <a:spAutoFit/>
          </a:bodyPr>
          <a:lstStyle/>
          <a:p>
            <a:pPr algn="l"/>
            <a:r>
              <a:rPr sz="1050" b="0" i="0" u="none">
                <a:solidFill>
                  <a:srgbClr val="475569"/>
                </a:solidFill>
                <a:latin typeface="Arial Black" panose="020B0A04020102020204" pitchFamily="34" charset="0"/>
              </a:rPr>
              <a:t>Lack of structured tracking prevents staff from prioritizing units nearing expiration, resulting in preventable blood wastage.</a:t>
            </a:r>
          </a:p>
        </p:txBody>
      </p:sp>
      <p:sp>
        <p:nvSpPr>
          <p:cNvPr id="22" name="TextBox 21"/>
          <p:cNvSpPr txBox="1"/>
          <p:nvPr/>
        </p:nvSpPr>
        <p:spPr>
          <a:xfrm>
            <a:off x="5659784" y="1266825"/>
            <a:ext cx="2553199" cy="196208"/>
          </a:xfrm>
          <a:prstGeom prst="rect">
            <a:avLst/>
          </a:prstGeom>
          <a:noFill/>
        </p:spPr>
        <p:txBody>
          <a:bodyPr wrap="none" lIns="0" tIns="0" rIns="0" bIns="0" anchor="t">
            <a:spAutoFit/>
          </a:bodyPr>
          <a:lstStyle/>
          <a:p>
            <a:pPr algn="l"/>
            <a:r>
              <a:rPr sz="1275" b="1" i="0" u="none">
                <a:solidFill>
                  <a:srgbClr val="991B1B"/>
                </a:solidFill>
                <a:latin typeface="Arial Black" panose="020B0A04020102020204" pitchFamily="34" charset="0"/>
              </a:rPr>
              <a:t>Manual Record Inaccuracies</a:t>
            </a:r>
          </a:p>
        </p:txBody>
      </p:sp>
      <p:sp>
        <p:nvSpPr>
          <p:cNvPr id="23" name="TextBox 22"/>
          <p:cNvSpPr txBox="1"/>
          <p:nvPr/>
        </p:nvSpPr>
        <p:spPr>
          <a:xfrm>
            <a:off x="5659784" y="2428875"/>
            <a:ext cx="2689006" cy="196208"/>
          </a:xfrm>
          <a:prstGeom prst="rect">
            <a:avLst/>
          </a:prstGeom>
          <a:noFill/>
        </p:spPr>
        <p:txBody>
          <a:bodyPr wrap="none" lIns="0" tIns="0" rIns="0" bIns="0" anchor="t">
            <a:spAutoFit/>
          </a:bodyPr>
          <a:lstStyle/>
          <a:p>
            <a:pPr algn="l"/>
            <a:r>
              <a:rPr sz="1275" b="1" i="0" u="none" dirty="0">
                <a:solidFill>
                  <a:srgbClr val="991B1B"/>
                </a:solidFill>
                <a:latin typeface="Arial Black" panose="020B0A04020102020204" pitchFamily="34" charset="0"/>
              </a:rPr>
              <a:t>Delayed Emergency Response</a:t>
            </a:r>
          </a:p>
        </p:txBody>
      </p:sp>
      <p:sp>
        <p:nvSpPr>
          <p:cNvPr id="24" name="TextBox 23"/>
          <p:cNvSpPr txBox="1"/>
          <p:nvPr/>
        </p:nvSpPr>
        <p:spPr>
          <a:xfrm>
            <a:off x="5659784" y="3590925"/>
            <a:ext cx="2807563" cy="196208"/>
          </a:xfrm>
          <a:prstGeom prst="rect">
            <a:avLst/>
          </a:prstGeom>
          <a:noFill/>
        </p:spPr>
        <p:txBody>
          <a:bodyPr wrap="none" lIns="0" tIns="0" rIns="0" bIns="0" anchor="t">
            <a:spAutoFit/>
          </a:bodyPr>
          <a:lstStyle/>
          <a:p>
            <a:pPr algn="l"/>
            <a:r>
              <a:rPr sz="1275" b="1" i="0" u="none">
                <a:solidFill>
                  <a:srgbClr val="991B1B"/>
                </a:solidFill>
                <a:latin typeface="Arial Black" panose="020B0A04020102020204" pitchFamily="34" charset="0"/>
              </a:rPr>
              <a:t>Wastage &amp; Unmonitored Expiry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925050" y="504825"/>
            <a:ext cx="1657350"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5" name="Rounded Rectangle 4"/>
          <p:cNvSpPr/>
          <p:nvPr/>
        </p:nvSpPr>
        <p:spPr>
          <a:xfrm>
            <a:off x="609600" y="1066800"/>
            <a:ext cx="5372100" cy="2867025"/>
          </a:xfrm>
          <a:prstGeom prst="roundRect">
            <a:avLst>
              <a:gd name="adj" fmla="val 398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6" name="Rounded Rectangle 5"/>
          <p:cNvSpPr/>
          <p:nvPr/>
        </p:nvSpPr>
        <p:spPr>
          <a:xfrm>
            <a:off x="6210300" y="1066800"/>
            <a:ext cx="5372100" cy="2867025"/>
          </a:xfrm>
          <a:prstGeom prst="roundRect">
            <a:avLst>
              <a:gd name="adj" fmla="val 398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7" name="Rounded Rectangle 6"/>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8" name="Rectangle 7"/>
          <p:cNvSpPr/>
          <p:nvPr/>
        </p:nvSpPr>
        <p:spPr>
          <a:xfrm>
            <a:off x="609600" y="3924300"/>
            <a:ext cx="5372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9" name="Rectangle 8"/>
          <p:cNvSpPr/>
          <p:nvPr/>
        </p:nvSpPr>
        <p:spPr>
          <a:xfrm>
            <a:off x="609600" y="1066800"/>
            <a:ext cx="5372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0" name="Rectangle 9"/>
          <p:cNvSpPr/>
          <p:nvPr/>
        </p:nvSpPr>
        <p:spPr>
          <a:xfrm>
            <a:off x="609600" y="1066800"/>
            <a:ext cx="38100" cy="2867025"/>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1" name="Rectangle 10"/>
          <p:cNvSpPr/>
          <p:nvPr/>
        </p:nvSpPr>
        <p:spPr>
          <a:xfrm>
            <a:off x="5972175" y="1066800"/>
            <a:ext cx="9525" cy="28670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2" name="Rectangle 11"/>
          <p:cNvSpPr/>
          <p:nvPr/>
        </p:nvSpPr>
        <p:spPr>
          <a:xfrm>
            <a:off x="6210300" y="3924300"/>
            <a:ext cx="5372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3" name="Rectangle 12"/>
          <p:cNvSpPr/>
          <p:nvPr/>
        </p:nvSpPr>
        <p:spPr>
          <a:xfrm>
            <a:off x="6210300" y="1066800"/>
            <a:ext cx="5372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4" name="Rectangle 13"/>
          <p:cNvSpPr/>
          <p:nvPr/>
        </p:nvSpPr>
        <p:spPr>
          <a:xfrm>
            <a:off x="6210300" y="1066800"/>
            <a:ext cx="38100" cy="2867025"/>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sp>
        <p:nvSpPr>
          <p:cNvPr id="15" name="Rectangle 14"/>
          <p:cNvSpPr/>
          <p:nvPr/>
        </p:nvSpPr>
        <p:spPr>
          <a:xfrm>
            <a:off x="11572875" y="1066800"/>
            <a:ext cx="9525" cy="28670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SemiBold Condensed" panose="020B0502040204020203" pitchFamily="34" charset="0"/>
            </a:endParaRPr>
          </a:p>
        </p:txBody>
      </p:sp>
      <p:pic>
        <p:nvPicPr>
          <p:cNvPr id="16" name="Picture 15" descr="image.png"/>
          <p:cNvPicPr>
            <a:picLocks noChangeAspect="1"/>
          </p:cNvPicPr>
          <p:nvPr/>
        </p:nvPicPr>
        <p:blipFill>
          <a:blip r:embed="rId2"/>
          <a:stretch>
            <a:fillRect/>
          </a:stretch>
        </p:blipFill>
        <p:spPr>
          <a:xfrm>
            <a:off x="10039350" y="581025"/>
            <a:ext cx="171450" cy="133350"/>
          </a:xfrm>
          <a:prstGeom prst="rect">
            <a:avLst/>
          </a:prstGeom>
        </p:spPr>
      </p:pic>
      <p:pic>
        <p:nvPicPr>
          <p:cNvPr id="17" name="Picture 16" descr="image.png"/>
          <p:cNvPicPr>
            <a:picLocks noChangeAspect="1"/>
          </p:cNvPicPr>
          <p:nvPr/>
        </p:nvPicPr>
        <p:blipFill>
          <a:blip r:embed="rId3"/>
          <a:stretch>
            <a:fillRect/>
          </a:stretch>
        </p:blipFill>
        <p:spPr>
          <a:xfrm>
            <a:off x="876300" y="1328737"/>
            <a:ext cx="219075" cy="190500"/>
          </a:xfrm>
          <a:prstGeom prst="rect">
            <a:avLst/>
          </a:prstGeom>
        </p:spPr>
      </p:pic>
      <p:pic>
        <p:nvPicPr>
          <p:cNvPr id="18" name="Picture 17" descr="image.png"/>
          <p:cNvPicPr>
            <a:picLocks noChangeAspect="1"/>
          </p:cNvPicPr>
          <p:nvPr/>
        </p:nvPicPr>
        <p:blipFill>
          <a:blip r:embed="rId4"/>
          <a:stretch>
            <a:fillRect/>
          </a:stretch>
        </p:blipFill>
        <p:spPr>
          <a:xfrm>
            <a:off x="6477000" y="1328737"/>
            <a:ext cx="142875" cy="190500"/>
          </a:xfrm>
          <a:prstGeom prst="rect">
            <a:avLst/>
          </a:prstGeom>
        </p:spPr>
      </p:pic>
      <p:sp>
        <p:nvSpPr>
          <p:cNvPr id="19" name="TextBox 18"/>
          <p:cNvSpPr txBox="1"/>
          <p:nvPr/>
        </p:nvSpPr>
        <p:spPr>
          <a:xfrm>
            <a:off x="609600" y="6248400"/>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Blood Bank Inventory &amp; Donor Matcher</a:t>
            </a:r>
          </a:p>
        </p:txBody>
      </p:sp>
      <p:sp>
        <p:nvSpPr>
          <p:cNvPr id="20" name="TextBox 19"/>
          <p:cNvSpPr txBox="1"/>
          <p:nvPr/>
        </p:nvSpPr>
        <p:spPr>
          <a:xfrm>
            <a:off x="11191875" y="6248400"/>
            <a:ext cx="676275" cy="152400"/>
          </a:xfrm>
          <a:prstGeom prst="rect">
            <a:avLst/>
          </a:prstGeom>
          <a:noFill/>
        </p:spPr>
        <p:txBody>
          <a:bodyPr wrap="none" lIns="0" tIns="0" rIns="0" bIns="0" anchor="t">
            <a:spAutoFit/>
          </a:bodyPr>
          <a:lstStyle/>
          <a:p>
            <a:pPr algn="l"/>
            <a:r>
              <a:rPr sz="975" b="0" i="0" u="none">
                <a:solidFill>
                  <a:srgbClr val="64748B"/>
                </a:solidFill>
                <a:latin typeface="Plus Jakarta Sans"/>
              </a:rPr>
              <a:t>Slide 4</a:t>
            </a:r>
          </a:p>
        </p:txBody>
      </p:sp>
      <p:sp>
        <p:nvSpPr>
          <p:cNvPr id="21" name="TextBox 20"/>
          <p:cNvSpPr txBox="1"/>
          <p:nvPr/>
        </p:nvSpPr>
        <p:spPr>
          <a:xfrm>
            <a:off x="10267950" y="566908"/>
            <a:ext cx="1295400" cy="161583"/>
          </a:xfrm>
          <a:prstGeom prst="rect">
            <a:avLst/>
          </a:prstGeom>
          <a:noFill/>
        </p:spPr>
        <p:txBody>
          <a:bodyPr wrap="square" lIns="0" tIns="0" rIns="0" bIns="0" anchor="ctr">
            <a:spAutoFit/>
          </a:bodyPr>
          <a:lstStyle/>
          <a:p>
            <a:pPr algn="l"/>
            <a:r>
              <a:rPr sz="1050" b="1" i="0" u="none">
                <a:solidFill>
                  <a:srgbClr val="991B1B"/>
                </a:solidFill>
                <a:latin typeface="Bahnschrift SemiBold Condensed" panose="020B0502040204020203" pitchFamily="34" charset="0"/>
              </a:rPr>
              <a:t>Java Fundamentals</a:t>
            </a:r>
          </a:p>
        </p:txBody>
      </p:sp>
      <p:sp>
        <p:nvSpPr>
          <p:cNvPr id="22" name="TextBox 21"/>
          <p:cNvSpPr txBox="1"/>
          <p:nvPr/>
        </p:nvSpPr>
        <p:spPr>
          <a:xfrm>
            <a:off x="800100" y="457200"/>
            <a:ext cx="3577903" cy="369332"/>
          </a:xfrm>
          <a:prstGeom prst="rect">
            <a:avLst/>
          </a:prstGeom>
          <a:noFill/>
        </p:spPr>
        <p:txBody>
          <a:bodyPr wrap="none" lIns="0" tIns="0" rIns="0" bIns="0" anchor="t">
            <a:spAutoFit/>
          </a:bodyPr>
          <a:lstStyle/>
          <a:p>
            <a:pPr algn="l"/>
            <a:r>
              <a:rPr sz="2400" b="1" i="0" u="none">
                <a:solidFill>
                  <a:srgbClr val="0F172A"/>
                </a:solidFill>
                <a:latin typeface="Bahnschrift SemiBold Condensed" panose="020B0502040204020203" pitchFamily="34" charset="0"/>
              </a:rPr>
              <a:t>CO 1 Topics: Data Types &amp; Operators</a:t>
            </a:r>
          </a:p>
        </p:txBody>
      </p:sp>
      <p:sp>
        <p:nvSpPr>
          <p:cNvPr id="23" name="TextBox 22"/>
          <p:cNvSpPr txBox="1"/>
          <p:nvPr/>
        </p:nvSpPr>
        <p:spPr>
          <a:xfrm>
            <a:off x="1190625" y="1304925"/>
            <a:ext cx="1723229" cy="230832"/>
          </a:xfrm>
          <a:prstGeom prst="rect">
            <a:avLst/>
          </a:prstGeom>
          <a:noFill/>
        </p:spPr>
        <p:txBody>
          <a:bodyPr wrap="none" lIns="0" tIns="0" rIns="0" bIns="0" anchor="t">
            <a:spAutoFit/>
          </a:bodyPr>
          <a:lstStyle/>
          <a:p>
            <a:pPr algn="l"/>
            <a:r>
              <a:rPr sz="1500" b="1" i="0" u="none">
                <a:solidFill>
                  <a:srgbClr val="0F172A"/>
                </a:solidFill>
                <a:latin typeface="Bahnschrift SemiBold Condensed" panose="020B0502040204020203" pitchFamily="34" charset="0"/>
              </a:rPr>
              <a:t>Data Types Implementation</a:t>
            </a:r>
          </a:p>
        </p:txBody>
      </p:sp>
      <p:sp>
        <p:nvSpPr>
          <p:cNvPr id="24" name="TextBox 23"/>
          <p:cNvSpPr txBox="1"/>
          <p:nvPr/>
        </p:nvSpPr>
        <p:spPr>
          <a:xfrm>
            <a:off x="876300" y="1695450"/>
            <a:ext cx="4962525" cy="400050"/>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Primitive Types (int):</a:t>
            </a:r>
            <a:r>
              <a:rPr sz="1125" b="0" i="0" u="none">
                <a:solidFill>
                  <a:srgbClr val="334155"/>
                </a:solidFill>
                <a:latin typeface="Bahnschrift SemiBold Condensed" panose="020B0502040204020203" pitchFamily="34" charset="0"/>
              </a:rPr>
              <a:t> Used for quantitative metrics such as donor age, unit quantities, and choice selections.</a:t>
            </a:r>
          </a:p>
        </p:txBody>
      </p:sp>
      <p:sp>
        <p:nvSpPr>
          <p:cNvPr id="25" name="TextBox 24"/>
          <p:cNvSpPr txBox="1"/>
          <p:nvPr/>
        </p:nvSpPr>
        <p:spPr>
          <a:xfrm>
            <a:off x="876300" y="2228850"/>
            <a:ext cx="4962525" cy="400050"/>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Reference Types (String):</a:t>
            </a:r>
            <a:r>
              <a:rPr sz="1125" b="0" i="0" u="none">
                <a:solidFill>
                  <a:srgbClr val="334155"/>
                </a:solidFill>
                <a:latin typeface="Bahnschrift SemiBold Condensed" panose="020B0502040204020203" pitchFamily="34" charset="0"/>
              </a:rPr>
              <a:t> Handles textual donor credentials including names, blood group symbols, and phone contacts.</a:t>
            </a:r>
          </a:p>
        </p:txBody>
      </p:sp>
      <p:sp>
        <p:nvSpPr>
          <p:cNvPr id="26" name="TextBox 25"/>
          <p:cNvSpPr txBox="1"/>
          <p:nvPr/>
        </p:nvSpPr>
        <p:spPr>
          <a:xfrm>
            <a:off x="876300" y="2762250"/>
            <a:ext cx="4962525" cy="188385"/>
          </a:xfrm>
          <a:prstGeom prst="rect">
            <a:avLst/>
          </a:prstGeom>
          <a:noFill/>
        </p:spPr>
        <p:txBody>
          <a:bodyPr wrap="square" lIns="0" tIns="0" rIns="0" bIns="0" anchor="t">
            <a:spAutoFit/>
          </a:bodyPr>
          <a:lstStyle/>
          <a:p>
            <a:pPr algn="l">
              <a:lnSpc>
                <a:spcPts val="1575"/>
              </a:lnSpc>
            </a:pPr>
            <a:r>
              <a:rPr sz="1125" b="1" i="0" u="none" dirty="0">
                <a:solidFill>
                  <a:srgbClr val="0F172A"/>
                </a:solidFill>
                <a:latin typeface="Bahnschrift SemiBold Condensed" panose="020B0502040204020203" pitchFamily="34" charset="0"/>
              </a:rPr>
              <a:t>Boolean Flags:</a:t>
            </a:r>
            <a:r>
              <a:rPr sz="1125" b="0" i="0" u="none" dirty="0">
                <a:solidFill>
                  <a:srgbClr val="334155"/>
                </a:solidFill>
                <a:latin typeface="Bahnschrift SemiBold Condensed" panose="020B0502040204020203" pitchFamily="34" charset="0"/>
              </a:rPr>
              <a:t> Evaluates dynamic system states during compatibility searches and record matches.</a:t>
            </a:r>
          </a:p>
        </p:txBody>
      </p:sp>
      <p:sp>
        <p:nvSpPr>
          <p:cNvPr id="27" name="TextBox 26"/>
          <p:cNvSpPr txBox="1"/>
          <p:nvPr/>
        </p:nvSpPr>
        <p:spPr>
          <a:xfrm>
            <a:off x="876300" y="3295650"/>
            <a:ext cx="4962525"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Custom Objects (Donor Class):</a:t>
            </a:r>
            <a:r>
              <a:rPr sz="1125" b="0" i="0" u="none">
                <a:solidFill>
                  <a:srgbClr val="334155"/>
                </a:solidFill>
                <a:latin typeface="Bahnschrift SemiBold Condensed" panose="020B0502040204020203" pitchFamily="34" charset="0"/>
              </a:rPr>
              <a:t> Encapsulates multi-attribute entity structures into cohesive data objects.</a:t>
            </a:r>
          </a:p>
        </p:txBody>
      </p:sp>
      <p:sp>
        <p:nvSpPr>
          <p:cNvPr id="28" name="TextBox 27"/>
          <p:cNvSpPr txBox="1"/>
          <p:nvPr/>
        </p:nvSpPr>
        <p:spPr>
          <a:xfrm>
            <a:off x="6715125" y="1304925"/>
            <a:ext cx="1383392" cy="230832"/>
          </a:xfrm>
          <a:prstGeom prst="rect">
            <a:avLst/>
          </a:prstGeom>
          <a:noFill/>
        </p:spPr>
        <p:txBody>
          <a:bodyPr wrap="none" lIns="0" tIns="0" rIns="0" bIns="0" anchor="t">
            <a:spAutoFit/>
          </a:bodyPr>
          <a:lstStyle/>
          <a:p>
            <a:pPr algn="l"/>
            <a:r>
              <a:rPr sz="1500" b="1" i="0" u="none">
                <a:solidFill>
                  <a:srgbClr val="0F172A"/>
                </a:solidFill>
                <a:latin typeface="Bahnschrift SemiBold Condensed" panose="020B0502040204020203" pitchFamily="34" charset="0"/>
              </a:rPr>
              <a:t>Operators Application</a:t>
            </a:r>
          </a:p>
        </p:txBody>
      </p:sp>
      <p:sp>
        <p:nvSpPr>
          <p:cNvPr id="29" name="TextBox 28"/>
          <p:cNvSpPr txBox="1"/>
          <p:nvPr/>
        </p:nvSpPr>
        <p:spPr>
          <a:xfrm>
            <a:off x="6477000" y="1695450"/>
            <a:ext cx="4962525"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Compound Arithmetic (+=, -=):</a:t>
            </a:r>
            <a:r>
              <a:rPr sz="1125" b="0" i="0" u="none">
                <a:solidFill>
                  <a:srgbClr val="334155"/>
                </a:solidFill>
                <a:latin typeface="Bahnschrift SemiBold Condensed" panose="020B0502040204020203" pitchFamily="34" charset="0"/>
              </a:rPr>
              <a:t> Manages inventory additions and updates unit deductions during issuance.</a:t>
            </a:r>
          </a:p>
        </p:txBody>
      </p:sp>
      <p:sp>
        <p:nvSpPr>
          <p:cNvPr id="30" name="TextBox 29"/>
          <p:cNvSpPr txBox="1"/>
          <p:nvPr/>
        </p:nvSpPr>
        <p:spPr>
          <a:xfrm>
            <a:off x="6477000" y="2228850"/>
            <a:ext cx="4962525"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Relational Operators (&lt;, &gt;, ==):</a:t>
            </a:r>
            <a:r>
              <a:rPr sz="1125" b="0" i="0" u="none">
                <a:solidFill>
                  <a:srgbClr val="334155"/>
                </a:solidFill>
                <a:latin typeface="Bahnschrift SemiBold Condensed" panose="020B0502040204020203" pitchFamily="34" charset="0"/>
              </a:rPr>
              <a:t> Enforces eligibility age limits (18–65 years) and verifies stock thresholds.</a:t>
            </a:r>
          </a:p>
        </p:txBody>
      </p:sp>
      <p:sp>
        <p:nvSpPr>
          <p:cNvPr id="31" name="TextBox 30"/>
          <p:cNvSpPr txBox="1"/>
          <p:nvPr/>
        </p:nvSpPr>
        <p:spPr>
          <a:xfrm>
            <a:off x="6477000" y="2762250"/>
            <a:ext cx="4962525"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Logical Operators (||, !):</a:t>
            </a:r>
            <a:r>
              <a:rPr sz="1125" b="0" i="0" u="none">
                <a:solidFill>
                  <a:srgbClr val="334155"/>
                </a:solidFill>
                <a:latin typeface="Bahnschrift SemiBold Condensed" panose="020B0502040204020203" pitchFamily="34" charset="0"/>
              </a:rPr>
              <a:t> Combines multi-variable conditions for input validation and availability status.</a:t>
            </a:r>
          </a:p>
        </p:txBody>
      </p:sp>
      <p:sp>
        <p:nvSpPr>
          <p:cNvPr id="32" name="TextBox 31"/>
          <p:cNvSpPr txBox="1"/>
          <p:nvPr/>
        </p:nvSpPr>
        <p:spPr>
          <a:xfrm>
            <a:off x="6477000" y="3295650"/>
            <a:ext cx="4962525"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SemiBold Condensed" panose="020B0502040204020203" pitchFamily="34" charset="0"/>
              </a:rPr>
              <a:t>Assignment &amp; Decrement:</a:t>
            </a:r>
            <a:r>
              <a:rPr sz="1125" b="0" i="0" u="none">
                <a:solidFill>
                  <a:srgbClr val="334155"/>
                </a:solidFill>
                <a:latin typeface="Bahnschrift SemiBold Condensed" panose="020B0502040204020203" pitchFamily="34" charset="0"/>
              </a:rPr>
              <a:t> Tracks live iteration indexes and updates database state dynamically.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3238500"/>
            <a:ext cx="10972800" cy="771525"/>
          </a:xfrm>
          <a:prstGeom prst="roundRect">
            <a:avLst>
              <a:gd name="adj" fmla="val 148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4" name="Rectangle 3"/>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306050" y="504825"/>
            <a:ext cx="1276350"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6" name="Rounded Rectangle 5"/>
          <p:cNvSpPr/>
          <p:nvPr/>
        </p:nvSpPr>
        <p:spPr>
          <a:xfrm>
            <a:off x="609600" y="1066800"/>
            <a:ext cx="3530500" cy="1943100"/>
          </a:xfrm>
          <a:prstGeom prst="roundRect">
            <a:avLst>
              <a:gd name="adj" fmla="val 58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7" name="Rounded Rectangle 6"/>
          <p:cNvSpPr/>
          <p:nvPr/>
        </p:nvSpPr>
        <p:spPr>
          <a:xfrm>
            <a:off x="4330600" y="1066800"/>
            <a:ext cx="3530649" cy="1943100"/>
          </a:xfrm>
          <a:prstGeom prst="roundRect">
            <a:avLst>
              <a:gd name="adj" fmla="val 58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8" name="Rounded Rectangle 7"/>
          <p:cNvSpPr/>
          <p:nvPr/>
        </p:nvSpPr>
        <p:spPr>
          <a:xfrm>
            <a:off x="8051750" y="1066800"/>
            <a:ext cx="3530500" cy="1943100"/>
          </a:xfrm>
          <a:prstGeom prst="roundRect">
            <a:avLst>
              <a:gd name="adj" fmla="val 588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9" name="Rounded Rectangle 8"/>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0" name="Rectangle 9"/>
          <p:cNvSpPr/>
          <p:nvPr/>
        </p:nvSpPr>
        <p:spPr>
          <a:xfrm>
            <a:off x="609600" y="3000375"/>
            <a:ext cx="3530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1" name="Rectangle 10"/>
          <p:cNvSpPr/>
          <p:nvPr/>
        </p:nvSpPr>
        <p:spPr>
          <a:xfrm>
            <a:off x="609600" y="1066800"/>
            <a:ext cx="3530500" cy="381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2" name="Rectangle 11"/>
          <p:cNvSpPr/>
          <p:nvPr/>
        </p:nvSpPr>
        <p:spPr>
          <a:xfrm>
            <a:off x="4130575" y="1066800"/>
            <a:ext cx="9525" cy="1943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3" name="Rectangle 12"/>
          <p:cNvSpPr/>
          <p:nvPr/>
        </p:nvSpPr>
        <p:spPr>
          <a:xfrm>
            <a:off x="4330600" y="3000375"/>
            <a:ext cx="353064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4" name="Rectangle 13"/>
          <p:cNvSpPr/>
          <p:nvPr/>
        </p:nvSpPr>
        <p:spPr>
          <a:xfrm>
            <a:off x="4330600" y="1066800"/>
            <a:ext cx="3530649" cy="381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5" name="Rectangle 14"/>
          <p:cNvSpPr/>
          <p:nvPr/>
        </p:nvSpPr>
        <p:spPr>
          <a:xfrm>
            <a:off x="7851725" y="1066800"/>
            <a:ext cx="9525" cy="1943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6" name="Rectangle 15"/>
          <p:cNvSpPr/>
          <p:nvPr/>
        </p:nvSpPr>
        <p:spPr>
          <a:xfrm>
            <a:off x="8051750" y="3000375"/>
            <a:ext cx="3530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7" name="Rectangle 16"/>
          <p:cNvSpPr/>
          <p:nvPr/>
        </p:nvSpPr>
        <p:spPr>
          <a:xfrm>
            <a:off x="8051750" y="1066800"/>
            <a:ext cx="3530500" cy="381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18" name="Rectangle 17"/>
          <p:cNvSpPr/>
          <p:nvPr/>
        </p:nvSpPr>
        <p:spPr>
          <a:xfrm>
            <a:off x="11572726" y="1066800"/>
            <a:ext cx="9525" cy="19431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pic>
        <p:nvPicPr>
          <p:cNvPr id="19" name="Picture 18" descr="image.png"/>
          <p:cNvPicPr>
            <a:picLocks noChangeAspect="1"/>
          </p:cNvPicPr>
          <p:nvPr/>
        </p:nvPicPr>
        <p:blipFill>
          <a:blip r:embed="rId2"/>
          <a:stretch>
            <a:fillRect/>
          </a:stretch>
        </p:blipFill>
        <p:spPr>
          <a:xfrm>
            <a:off x="809625" y="3490912"/>
            <a:ext cx="200025" cy="266700"/>
          </a:xfrm>
          <a:prstGeom prst="rect">
            <a:avLst/>
          </a:prstGeom>
        </p:spPr>
      </p:pic>
      <p:pic>
        <p:nvPicPr>
          <p:cNvPr id="20" name="Picture 19" descr="image.png"/>
          <p:cNvPicPr>
            <a:picLocks noChangeAspect="1"/>
          </p:cNvPicPr>
          <p:nvPr/>
        </p:nvPicPr>
        <p:blipFill>
          <a:blip r:embed="rId3"/>
          <a:stretch>
            <a:fillRect/>
          </a:stretch>
        </p:blipFill>
        <p:spPr>
          <a:xfrm>
            <a:off x="10420350" y="581025"/>
            <a:ext cx="114300" cy="133350"/>
          </a:xfrm>
          <a:prstGeom prst="rect">
            <a:avLst/>
          </a:prstGeom>
        </p:spPr>
      </p:pic>
      <p:pic>
        <p:nvPicPr>
          <p:cNvPr id="21" name="Picture 20" descr="image.png"/>
          <p:cNvPicPr>
            <a:picLocks noChangeAspect="1"/>
          </p:cNvPicPr>
          <p:nvPr/>
        </p:nvPicPr>
        <p:blipFill>
          <a:blip r:embed="rId4"/>
          <a:stretch>
            <a:fillRect/>
          </a:stretch>
        </p:blipFill>
        <p:spPr>
          <a:xfrm>
            <a:off x="838200" y="1333500"/>
            <a:ext cx="257175" cy="228600"/>
          </a:xfrm>
          <a:prstGeom prst="rect">
            <a:avLst/>
          </a:prstGeom>
        </p:spPr>
      </p:pic>
      <p:pic>
        <p:nvPicPr>
          <p:cNvPr id="22" name="Picture 21" descr="image.png"/>
          <p:cNvPicPr>
            <a:picLocks noChangeAspect="1"/>
          </p:cNvPicPr>
          <p:nvPr/>
        </p:nvPicPr>
        <p:blipFill>
          <a:blip r:embed="rId5"/>
          <a:stretch>
            <a:fillRect/>
          </a:stretch>
        </p:blipFill>
        <p:spPr>
          <a:xfrm>
            <a:off x="4559200" y="1333500"/>
            <a:ext cx="228600" cy="228600"/>
          </a:xfrm>
          <a:prstGeom prst="rect">
            <a:avLst/>
          </a:prstGeom>
        </p:spPr>
      </p:pic>
      <p:pic>
        <p:nvPicPr>
          <p:cNvPr id="23" name="Picture 22" descr="image.png"/>
          <p:cNvPicPr>
            <a:picLocks noChangeAspect="1"/>
          </p:cNvPicPr>
          <p:nvPr/>
        </p:nvPicPr>
        <p:blipFill>
          <a:blip r:embed="rId6"/>
          <a:stretch>
            <a:fillRect/>
          </a:stretch>
        </p:blipFill>
        <p:spPr>
          <a:xfrm>
            <a:off x="8280350" y="1333500"/>
            <a:ext cx="228600" cy="228600"/>
          </a:xfrm>
          <a:prstGeom prst="rect">
            <a:avLst/>
          </a:prstGeom>
        </p:spPr>
      </p:pic>
      <p:sp>
        <p:nvSpPr>
          <p:cNvPr id="24" name="TextBox 23"/>
          <p:cNvSpPr txBox="1"/>
          <p:nvPr/>
        </p:nvSpPr>
        <p:spPr>
          <a:xfrm>
            <a:off x="609600" y="6248400"/>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Blood Bank Inventory &amp; Donor Matcher</a:t>
            </a:r>
          </a:p>
        </p:txBody>
      </p:sp>
      <p:sp>
        <p:nvSpPr>
          <p:cNvPr id="25" name="TextBox 24"/>
          <p:cNvSpPr txBox="1"/>
          <p:nvPr/>
        </p:nvSpPr>
        <p:spPr>
          <a:xfrm>
            <a:off x="11191875" y="6248400"/>
            <a:ext cx="676275" cy="152400"/>
          </a:xfrm>
          <a:prstGeom prst="rect">
            <a:avLst/>
          </a:prstGeom>
          <a:noFill/>
        </p:spPr>
        <p:txBody>
          <a:bodyPr wrap="none" lIns="0" tIns="0" rIns="0" bIns="0" anchor="t">
            <a:spAutoFit/>
          </a:bodyPr>
          <a:lstStyle/>
          <a:p>
            <a:pPr algn="l"/>
            <a:r>
              <a:rPr sz="975" b="0" i="0" u="none">
                <a:solidFill>
                  <a:srgbClr val="64748B"/>
                </a:solidFill>
                <a:latin typeface="Plus Jakarta Sans"/>
              </a:rPr>
              <a:t>Slide 5</a:t>
            </a:r>
          </a:p>
        </p:txBody>
      </p:sp>
      <p:sp>
        <p:nvSpPr>
          <p:cNvPr id="26" name="TextBox 25"/>
          <p:cNvSpPr txBox="1"/>
          <p:nvPr/>
        </p:nvSpPr>
        <p:spPr>
          <a:xfrm>
            <a:off x="10591800" y="566908"/>
            <a:ext cx="971550" cy="161583"/>
          </a:xfrm>
          <a:prstGeom prst="rect">
            <a:avLst/>
          </a:prstGeom>
          <a:noFill/>
        </p:spPr>
        <p:txBody>
          <a:bodyPr wrap="square" lIns="0" tIns="0" rIns="0" bIns="0" anchor="ctr">
            <a:spAutoFit/>
          </a:bodyPr>
          <a:lstStyle/>
          <a:p>
            <a:pPr algn="l"/>
            <a:r>
              <a:rPr sz="1050" b="1" i="0" u="none">
                <a:solidFill>
                  <a:srgbClr val="991B1B"/>
                </a:solidFill>
                <a:latin typeface="Bahnschrift Condensed" panose="020B0502040204020203" pitchFamily="34" charset="0"/>
              </a:rPr>
              <a:t>Program Flow</a:t>
            </a:r>
          </a:p>
        </p:txBody>
      </p:sp>
      <p:sp>
        <p:nvSpPr>
          <p:cNvPr id="27" name="TextBox 26"/>
          <p:cNvSpPr txBox="1"/>
          <p:nvPr/>
        </p:nvSpPr>
        <p:spPr>
          <a:xfrm>
            <a:off x="800100" y="457200"/>
            <a:ext cx="3977051" cy="369332"/>
          </a:xfrm>
          <a:prstGeom prst="rect">
            <a:avLst/>
          </a:prstGeom>
          <a:noFill/>
        </p:spPr>
        <p:txBody>
          <a:bodyPr wrap="none" lIns="0" tIns="0" rIns="0" bIns="0" anchor="t">
            <a:spAutoFit/>
          </a:bodyPr>
          <a:lstStyle/>
          <a:p>
            <a:pPr algn="l"/>
            <a:r>
              <a:rPr sz="2400" b="1" i="0" u="none">
                <a:solidFill>
                  <a:srgbClr val="0F172A"/>
                </a:solidFill>
                <a:latin typeface="Bahnschrift Condensed" panose="020B0502040204020203" pitchFamily="34" charset="0"/>
              </a:rPr>
              <a:t>CO 2 Topics: Control Structures &amp; Loops</a:t>
            </a:r>
          </a:p>
        </p:txBody>
      </p:sp>
      <p:sp>
        <p:nvSpPr>
          <p:cNvPr id="28" name="TextBox 27"/>
          <p:cNvSpPr txBox="1"/>
          <p:nvPr/>
        </p:nvSpPr>
        <p:spPr>
          <a:xfrm>
            <a:off x="838200" y="1676400"/>
            <a:ext cx="705321" cy="207749"/>
          </a:xfrm>
          <a:prstGeom prst="rect">
            <a:avLst/>
          </a:prstGeom>
          <a:noFill/>
        </p:spPr>
        <p:txBody>
          <a:bodyPr wrap="none" lIns="0" tIns="0" rIns="0" bIns="0" anchor="t">
            <a:spAutoFit/>
          </a:bodyPr>
          <a:lstStyle/>
          <a:p>
            <a:pPr algn="l"/>
            <a:r>
              <a:rPr sz="1350" b="1" i="0" u="none">
                <a:solidFill>
                  <a:srgbClr val="0F172A"/>
                </a:solidFill>
                <a:latin typeface="Bahnschrift Condensed" panose="020B0502040204020203" pitchFamily="34" charset="0"/>
              </a:rPr>
              <a:t>If-Else Logic</a:t>
            </a:r>
          </a:p>
        </p:txBody>
      </p:sp>
      <p:sp>
        <p:nvSpPr>
          <p:cNvPr id="29" name="TextBox 28"/>
          <p:cNvSpPr txBox="1"/>
          <p:nvPr/>
        </p:nvSpPr>
        <p:spPr>
          <a:xfrm>
            <a:off x="838200" y="1971675"/>
            <a:ext cx="3159025"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Bahnschrift Condensed" panose="020B0502040204020203" pitchFamily="34" charset="0"/>
              </a:rPr>
              <a:t>Evaluates donor eligibility rules (restricting age between 18 and 65) and validates if current stock levels can fulfill pending patient requisitions.</a:t>
            </a:r>
          </a:p>
        </p:txBody>
      </p:sp>
      <p:sp>
        <p:nvSpPr>
          <p:cNvPr id="30" name="TextBox 29"/>
          <p:cNvSpPr txBox="1"/>
          <p:nvPr/>
        </p:nvSpPr>
        <p:spPr>
          <a:xfrm>
            <a:off x="4559200" y="1676400"/>
            <a:ext cx="1279196" cy="207749"/>
          </a:xfrm>
          <a:prstGeom prst="rect">
            <a:avLst/>
          </a:prstGeom>
          <a:noFill/>
        </p:spPr>
        <p:txBody>
          <a:bodyPr wrap="none" lIns="0" tIns="0" rIns="0" bIns="0" anchor="t">
            <a:spAutoFit/>
          </a:bodyPr>
          <a:lstStyle/>
          <a:p>
            <a:pPr algn="l"/>
            <a:r>
              <a:rPr sz="1350" b="1" i="0" u="none">
                <a:solidFill>
                  <a:srgbClr val="0F172A"/>
                </a:solidFill>
                <a:latin typeface="Bahnschrift Condensed" panose="020B0502040204020203" pitchFamily="34" charset="0"/>
              </a:rPr>
              <a:t>Switch Case Structure</a:t>
            </a:r>
          </a:p>
        </p:txBody>
      </p:sp>
      <p:sp>
        <p:nvSpPr>
          <p:cNvPr id="31" name="TextBox 30"/>
          <p:cNvSpPr txBox="1"/>
          <p:nvPr/>
        </p:nvSpPr>
        <p:spPr>
          <a:xfrm>
            <a:off x="4559200" y="1971675"/>
            <a:ext cx="3159174" cy="591957"/>
          </a:xfrm>
          <a:prstGeom prst="rect">
            <a:avLst/>
          </a:prstGeom>
          <a:noFill/>
        </p:spPr>
        <p:txBody>
          <a:bodyPr wrap="square" lIns="0" tIns="0" rIns="0" bIns="0" anchor="t">
            <a:spAutoFit/>
          </a:bodyPr>
          <a:lstStyle/>
          <a:p>
            <a:pPr algn="l">
              <a:lnSpc>
                <a:spcPts val="1575"/>
              </a:lnSpc>
            </a:pPr>
            <a:r>
              <a:rPr sz="1050" b="0" i="0" u="none">
                <a:solidFill>
                  <a:srgbClr val="475569"/>
                </a:solidFill>
                <a:latin typeface="Bahnschrift Condensed" panose="020B0502040204020203" pitchFamily="34" charset="0"/>
              </a:rPr>
              <a:t>Drives main application menu operations and maps specific blood groups (A+, B-, O+, etc.) to their universal donor/recipient compatibility matrix.</a:t>
            </a:r>
          </a:p>
        </p:txBody>
      </p:sp>
      <p:sp>
        <p:nvSpPr>
          <p:cNvPr id="32" name="TextBox 31"/>
          <p:cNvSpPr txBox="1"/>
          <p:nvPr/>
        </p:nvSpPr>
        <p:spPr>
          <a:xfrm>
            <a:off x="8280350" y="1676400"/>
            <a:ext cx="3911649" cy="219075"/>
          </a:xfrm>
          <a:prstGeom prst="rect">
            <a:avLst/>
          </a:prstGeom>
          <a:noFill/>
        </p:spPr>
        <p:txBody>
          <a:bodyPr wrap="none" lIns="0" tIns="0" rIns="0" bIns="0" anchor="t">
            <a:spAutoFit/>
          </a:bodyPr>
          <a:lstStyle/>
          <a:p>
            <a:pPr algn="l"/>
            <a:r>
              <a:rPr sz="1350" b="1" i="0" u="none">
                <a:solidFill>
                  <a:srgbClr val="0F172A"/>
                </a:solidFill>
                <a:latin typeface="Plus Jakarta Sans"/>
              </a:rPr>
              <a:t>Do-While &amp; For Loops</a:t>
            </a:r>
          </a:p>
        </p:txBody>
      </p:sp>
      <p:sp>
        <p:nvSpPr>
          <p:cNvPr id="33" name="TextBox 32"/>
          <p:cNvSpPr txBox="1"/>
          <p:nvPr/>
        </p:nvSpPr>
        <p:spPr>
          <a:xfrm>
            <a:off x="8280350" y="1971675"/>
            <a:ext cx="3159025" cy="391261"/>
          </a:xfrm>
          <a:prstGeom prst="rect">
            <a:avLst/>
          </a:prstGeom>
          <a:noFill/>
        </p:spPr>
        <p:txBody>
          <a:bodyPr wrap="square" lIns="0" tIns="0" rIns="0" bIns="0" anchor="t">
            <a:spAutoFit/>
          </a:bodyPr>
          <a:lstStyle/>
          <a:p>
            <a:pPr algn="l">
              <a:lnSpc>
                <a:spcPts val="1575"/>
              </a:lnSpc>
            </a:pPr>
            <a:r>
              <a:rPr sz="1050" b="1" i="0" u="none">
                <a:solidFill>
                  <a:srgbClr val="0F172A"/>
                </a:solidFill>
                <a:latin typeface="Bahnschrift Condensed" panose="020B0502040204020203" pitchFamily="34" charset="0"/>
              </a:rPr>
              <a:t>Do-While:</a:t>
            </a:r>
            <a:r>
              <a:rPr sz="1050" b="0" i="0" u="none">
                <a:solidFill>
                  <a:srgbClr val="475569"/>
                </a:solidFill>
                <a:latin typeface="Bahnschrift Condensed" panose="020B0502040204020203" pitchFamily="34" charset="0"/>
              </a:rPr>
              <a:t> Keeps console menu active continuously.</a:t>
            </a:r>
            <a:r>
              <a:rPr>
                <a:latin typeface="Bahnschrift Condensed" panose="020B0502040204020203" pitchFamily="34" charset="0"/>
              </a:rPr>
              <a:t>
</a:t>
            </a:r>
            <a:r>
              <a:rPr sz="1050" b="1" i="0" u="none">
                <a:solidFill>
                  <a:srgbClr val="0F172A"/>
                </a:solidFill>
                <a:latin typeface="Bahnschrift Condensed" panose="020B0502040204020203" pitchFamily="34" charset="0"/>
              </a:rPr>
              <a:t>For-Each:</a:t>
            </a:r>
            <a:r>
              <a:rPr sz="1050" b="0" i="0" u="none">
                <a:solidFill>
                  <a:srgbClr val="475569"/>
                </a:solidFill>
                <a:latin typeface="Bahnschrift Condensed" panose="020B0502040204020203" pitchFamily="34" charset="0"/>
              </a:rPr>
              <a:t> Traverses donor registries &amp; stock arrays efficiently.</a:t>
            </a:r>
          </a:p>
        </p:txBody>
      </p:sp>
      <p:sp>
        <p:nvSpPr>
          <p:cNvPr id="34" name="TextBox 33"/>
          <p:cNvSpPr txBox="1"/>
          <p:nvPr/>
        </p:nvSpPr>
        <p:spPr>
          <a:xfrm>
            <a:off x="1200150" y="3438525"/>
            <a:ext cx="10991850" cy="200025"/>
          </a:xfrm>
          <a:prstGeom prst="rect">
            <a:avLst/>
          </a:prstGeom>
          <a:noFill/>
        </p:spPr>
        <p:txBody>
          <a:bodyPr wrap="none" lIns="0" tIns="0" rIns="0" bIns="0" anchor="t">
            <a:spAutoFit/>
          </a:bodyPr>
          <a:lstStyle/>
          <a:p>
            <a:pPr algn="l"/>
            <a:r>
              <a:rPr sz="1200" b="1" i="0" u="none">
                <a:solidFill>
                  <a:srgbClr val="0F172A"/>
                </a:solidFill>
                <a:latin typeface="Plus Jakarta Sans"/>
              </a:rPr>
              <a:t>Nested Loops in Donor Matching</a:t>
            </a:r>
          </a:p>
        </p:txBody>
      </p:sp>
      <p:sp>
        <p:nvSpPr>
          <p:cNvPr id="35" name="TextBox 34"/>
          <p:cNvSpPr txBox="1"/>
          <p:nvPr/>
        </p:nvSpPr>
        <p:spPr>
          <a:xfrm>
            <a:off x="1200150" y="3638550"/>
            <a:ext cx="10991850" cy="171450"/>
          </a:xfrm>
          <a:prstGeom prst="rect">
            <a:avLst/>
          </a:prstGeom>
          <a:noFill/>
        </p:spPr>
        <p:txBody>
          <a:bodyPr wrap="none" lIns="0" tIns="0" rIns="0" bIns="0" anchor="t">
            <a:spAutoFit/>
          </a:bodyPr>
          <a:lstStyle/>
          <a:p>
            <a:pPr algn="l"/>
            <a:r>
              <a:rPr sz="1050" b="0" i="0" u="none">
                <a:solidFill>
                  <a:srgbClr val="475569"/>
                </a:solidFill>
                <a:latin typeface="Plus Jakarta Sans"/>
              </a:rPr>
              <a:t>In inventory shortage scenarios, nested iteration evaluates registered donors against array lists of compatible blood groups, displaying matches immediately.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801225" y="504825"/>
            <a:ext cx="1781175"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5" name="Rounded Rectangle 4"/>
          <p:cNvSpPr/>
          <p:nvPr/>
        </p:nvSpPr>
        <p:spPr>
          <a:xfrm>
            <a:off x="609600" y="1066800"/>
            <a:ext cx="5372100" cy="2276475"/>
          </a:xfrm>
          <a:prstGeom prst="roundRect">
            <a:avLst>
              <a:gd name="adj" fmla="val 502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6" name="Rounded Rectangle 5"/>
          <p:cNvSpPr/>
          <p:nvPr/>
        </p:nvSpPr>
        <p:spPr>
          <a:xfrm>
            <a:off x="6210300" y="1066800"/>
            <a:ext cx="5372100" cy="2276475"/>
          </a:xfrm>
          <a:prstGeom prst="roundRect">
            <a:avLst>
              <a:gd name="adj" fmla="val 502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sp>
        <p:nvSpPr>
          <p:cNvPr id="7" name="Rounded Rectangle 6"/>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Condensed" panose="020B0502040204020203" pitchFamily="34" charset="0"/>
            </a:endParaRPr>
          </a:p>
        </p:txBody>
      </p:sp>
      <p:pic>
        <p:nvPicPr>
          <p:cNvPr id="8" name="Picture 7" descr="image.png"/>
          <p:cNvPicPr>
            <a:picLocks noChangeAspect="1"/>
          </p:cNvPicPr>
          <p:nvPr/>
        </p:nvPicPr>
        <p:blipFill>
          <a:blip r:embed="rId2"/>
          <a:stretch>
            <a:fillRect/>
          </a:stretch>
        </p:blipFill>
        <p:spPr>
          <a:xfrm>
            <a:off x="9915525" y="581025"/>
            <a:ext cx="152400" cy="133350"/>
          </a:xfrm>
          <a:prstGeom prst="rect">
            <a:avLst/>
          </a:prstGeom>
        </p:spPr>
      </p:pic>
      <p:pic>
        <p:nvPicPr>
          <p:cNvPr id="9" name="Picture 8" descr="image.png"/>
          <p:cNvPicPr>
            <a:picLocks noChangeAspect="1"/>
          </p:cNvPicPr>
          <p:nvPr/>
        </p:nvPicPr>
        <p:blipFill>
          <a:blip r:embed="rId3"/>
          <a:stretch>
            <a:fillRect/>
          </a:stretch>
        </p:blipFill>
        <p:spPr>
          <a:xfrm>
            <a:off x="847725" y="1328737"/>
            <a:ext cx="190500" cy="190500"/>
          </a:xfrm>
          <a:prstGeom prst="rect">
            <a:avLst/>
          </a:prstGeom>
        </p:spPr>
      </p:pic>
      <p:pic>
        <p:nvPicPr>
          <p:cNvPr id="10" name="Picture 9" descr="image.png"/>
          <p:cNvPicPr>
            <a:picLocks noChangeAspect="1"/>
          </p:cNvPicPr>
          <p:nvPr/>
        </p:nvPicPr>
        <p:blipFill>
          <a:blip r:embed="rId4"/>
          <a:stretch>
            <a:fillRect/>
          </a:stretch>
        </p:blipFill>
        <p:spPr>
          <a:xfrm>
            <a:off x="6448425" y="1328737"/>
            <a:ext cx="238125" cy="190500"/>
          </a:xfrm>
          <a:prstGeom prst="rect">
            <a:avLst/>
          </a:prstGeom>
        </p:spPr>
      </p:pic>
      <p:sp>
        <p:nvSpPr>
          <p:cNvPr id="11" name="TextBox 10"/>
          <p:cNvSpPr txBox="1"/>
          <p:nvPr/>
        </p:nvSpPr>
        <p:spPr>
          <a:xfrm>
            <a:off x="609600" y="6248400"/>
            <a:ext cx="2797968" cy="152400"/>
          </a:xfrm>
          <a:prstGeom prst="rect">
            <a:avLst/>
          </a:prstGeom>
          <a:noFill/>
        </p:spPr>
        <p:txBody>
          <a:bodyPr wrap="none" lIns="0" tIns="0" rIns="0" bIns="0" anchor="t">
            <a:spAutoFit/>
          </a:bodyPr>
          <a:lstStyle/>
          <a:p>
            <a:pPr algn="l"/>
            <a:r>
              <a:rPr sz="975" b="0" i="0" u="none">
                <a:solidFill>
                  <a:srgbClr val="64748B"/>
                </a:solidFill>
                <a:latin typeface="Plus Jakarta Sans"/>
              </a:rPr>
              <a:t>Blood Bank Inventory &amp; Donor Matcher</a:t>
            </a:r>
          </a:p>
        </p:txBody>
      </p:sp>
      <p:sp>
        <p:nvSpPr>
          <p:cNvPr id="12" name="TextBox 11"/>
          <p:cNvSpPr txBox="1"/>
          <p:nvPr/>
        </p:nvSpPr>
        <p:spPr>
          <a:xfrm>
            <a:off x="11191875" y="6248400"/>
            <a:ext cx="676275" cy="152400"/>
          </a:xfrm>
          <a:prstGeom prst="rect">
            <a:avLst/>
          </a:prstGeom>
          <a:noFill/>
        </p:spPr>
        <p:txBody>
          <a:bodyPr wrap="none" lIns="0" tIns="0" rIns="0" bIns="0" anchor="t">
            <a:spAutoFit/>
          </a:bodyPr>
          <a:lstStyle/>
          <a:p>
            <a:pPr algn="l"/>
            <a:r>
              <a:rPr sz="975" b="0" i="0" u="none">
                <a:solidFill>
                  <a:srgbClr val="64748B"/>
                </a:solidFill>
                <a:latin typeface="Plus Jakarta Sans"/>
              </a:rPr>
              <a:t>Slide 6</a:t>
            </a:r>
          </a:p>
        </p:txBody>
      </p:sp>
      <p:sp>
        <p:nvSpPr>
          <p:cNvPr id="13" name="TextBox 12"/>
          <p:cNvSpPr txBox="1"/>
          <p:nvPr/>
        </p:nvSpPr>
        <p:spPr>
          <a:xfrm>
            <a:off x="10125075" y="566908"/>
            <a:ext cx="1438275" cy="161583"/>
          </a:xfrm>
          <a:prstGeom prst="rect">
            <a:avLst/>
          </a:prstGeom>
          <a:noFill/>
        </p:spPr>
        <p:txBody>
          <a:bodyPr wrap="square" lIns="0" tIns="0" rIns="0" bIns="0" anchor="ctr">
            <a:spAutoFit/>
          </a:bodyPr>
          <a:lstStyle/>
          <a:p>
            <a:pPr algn="l"/>
            <a:r>
              <a:rPr sz="1050" b="1" i="0" u="none">
                <a:solidFill>
                  <a:srgbClr val="991B1B"/>
                </a:solidFill>
                <a:latin typeface="Bahnschrift Condensed" panose="020B0502040204020203" pitchFamily="34" charset="0"/>
              </a:rPr>
              <a:t>Modular Architecture</a:t>
            </a:r>
          </a:p>
        </p:txBody>
      </p:sp>
      <p:sp>
        <p:nvSpPr>
          <p:cNvPr id="14" name="TextBox 13"/>
          <p:cNvSpPr txBox="1"/>
          <p:nvPr/>
        </p:nvSpPr>
        <p:spPr>
          <a:xfrm>
            <a:off x="800100" y="457200"/>
            <a:ext cx="3044103" cy="369332"/>
          </a:xfrm>
          <a:prstGeom prst="rect">
            <a:avLst/>
          </a:prstGeom>
          <a:noFill/>
        </p:spPr>
        <p:txBody>
          <a:bodyPr wrap="none" lIns="0" tIns="0" rIns="0" bIns="0" anchor="t">
            <a:spAutoFit/>
          </a:bodyPr>
          <a:lstStyle/>
          <a:p>
            <a:pPr algn="l"/>
            <a:r>
              <a:rPr sz="2400" b="1" i="0" u="none">
                <a:solidFill>
                  <a:srgbClr val="0F172A"/>
                </a:solidFill>
                <a:latin typeface="Bahnschrift Condensed" panose="020B0502040204020203" pitchFamily="34" charset="0"/>
              </a:rPr>
              <a:t>CO 3 Topics: Methods &amp; Arrays</a:t>
            </a:r>
          </a:p>
        </p:txBody>
      </p:sp>
      <p:sp>
        <p:nvSpPr>
          <p:cNvPr id="15" name="TextBox 14"/>
          <p:cNvSpPr txBox="1"/>
          <p:nvPr/>
        </p:nvSpPr>
        <p:spPr>
          <a:xfrm>
            <a:off x="1133475" y="1304925"/>
            <a:ext cx="1878719" cy="230832"/>
          </a:xfrm>
          <a:prstGeom prst="rect">
            <a:avLst/>
          </a:prstGeom>
          <a:noFill/>
        </p:spPr>
        <p:txBody>
          <a:bodyPr wrap="none" lIns="0" tIns="0" rIns="0" bIns="0" anchor="t">
            <a:spAutoFit/>
          </a:bodyPr>
          <a:lstStyle/>
          <a:p>
            <a:pPr algn="l"/>
            <a:r>
              <a:rPr sz="1500" b="1" i="0" u="none">
                <a:solidFill>
                  <a:srgbClr val="0F172A"/>
                </a:solidFill>
                <a:latin typeface="Bahnschrift Condensed" panose="020B0502040204020203" pitchFamily="34" charset="0"/>
              </a:rPr>
              <a:t>Arrays &amp; Dynamic Collections</a:t>
            </a:r>
          </a:p>
        </p:txBody>
      </p:sp>
      <p:sp>
        <p:nvSpPr>
          <p:cNvPr id="16" name="TextBox 15"/>
          <p:cNvSpPr txBox="1"/>
          <p:nvPr/>
        </p:nvSpPr>
        <p:spPr>
          <a:xfrm>
            <a:off x="847725" y="1676400"/>
            <a:ext cx="4991100" cy="400050"/>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Fixed Stock Arrays:</a:t>
            </a:r>
            <a:r>
              <a:rPr sz="1125" b="0" i="0" u="none">
                <a:solidFill>
                  <a:srgbClr val="334155"/>
                </a:solidFill>
                <a:latin typeface="Bahnschrift Condensed" panose="020B0502040204020203" pitchFamily="34" charset="0"/>
              </a:rPr>
              <a:t> Parallel array indexing maps 8 standard blood group strings to integer inventory totals.</a:t>
            </a:r>
          </a:p>
        </p:txBody>
      </p:sp>
      <p:sp>
        <p:nvSpPr>
          <p:cNvPr id="17" name="TextBox 16"/>
          <p:cNvSpPr txBox="1"/>
          <p:nvPr/>
        </p:nvSpPr>
        <p:spPr>
          <a:xfrm>
            <a:off x="847725" y="2190750"/>
            <a:ext cx="4991100" cy="400050"/>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Dynamic ArrayList:</a:t>
            </a:r>
            <a:r>
              <a:rPr sz="1125" b="0" i="0" u="none">
                <a:solidFill>
                  <a:srgbClr val="334155"/>
                </a:solidFill>
                <a:latin typeface="Bahnschrift Condensed" panose="020B0502040204020203" pitchFamily="34" charset="0"/>
              </a:rPr>
              <a:t> Resizable Object list handles unpredictable donor registrations without predefined size bounds.</a:t>
            </a:r>
          </a:p>
        </p:txBody>
      </p:sp>
      <p:sp>
        <p:nvSpPr>
          <p:cNvPr id="18" name="TextBox 17"/>
          <p:cNvSpPr txBox="1"/>
          <p:nvPr/>
        </p:nvSpPr>
        <p:spPr>
          <a:xfrm>
            <a:off x="847725" y="2705100"/>
            <a:ext cx="4991100"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Lookup Mapping:</a:t>
            </a:r>
            <a:r>
              <a:rPr sz="1125" b="0" i="0" u="none">
                <a:solidFill>
                  <a:srgbClr val="334155"/>
                </a:solidFill>
                <a:latin typeface="Bahnschrift Condensed" panose="020B0502040204020203" pitchFamily="34" charset="0"/>
              </a:rPr>
              <a:t> Array helper functions return string arrays of compatible blood types dynamically.</a:t>
            </a:r>
          </a:p>
        </p:txBody>
      </p:sp>
      <p:sp>
        <p:nvSpPr>
          <p:cNvPr id="19" name="TextBox 18"/>
          <p:cNvSpPr txBox="1"/>
          <p:nvPr/>
        </p:nvSpPr>
        <p:spPr>
          <a:xfrm>
            <a:off x="6781800" y="1304925"/>
            <a:ext cx="1792157" cy="230832"/>
          </a:xfrm>
          <a:prstGeom prst="rect">
            <a:avLst/>
          </a:prstGeom>
          <a:noFill/>
        </p:spPr>
        <p:txBody>
          <a:bodyPr wrap="none" lIns="0" tIns="0" rIns="0" bIns="0" anchor="t">
            <a:spAutoFit/>
          </a:bodyPr>
          <a:lstStyle/>
          <a:p>
            <a:pPr algn="l"/>
            <a:r>
              <a:rPr sz="1500" b="1" i="0" u="none">
                <a:solidFill>
                  <a:srgbClr val="0F172A"/>
                </a:solidFill>
                <a:latin typeface="Bahnschrift Condensed" panose="020B0502040204020203" pitchFamily="34" charset="0"/>
              </a:rPr>
              <a:t>Modular Method Abstraction</a:t>
            </a:r>
          </a:p>
        </p:txBody>
      </p:sp>
      <p:sp>
        <p:nvSpPr>
          <p:cNvPr id="20" name="TextBox 19"/>
          <p:cNvSpPr txBox="1"/>
          <p:nvPr/>
        </p:nvSpPr>
        <p:spPr>
          <a:xfrm>
            <a:off x="6448425" y="1676400"/>
            <a:ext cx="4991100"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Functional Decomposition:</a:t>
            </a:r>
            <a:r>
              <a:rPr sz="1125" b="0" i="0" u="none">
                <a:solidFill>
                  <a:srgbClr val="334155"/>
                </a:solidFill>
                <a:latin typeface="Bahnschrift Condensed" panose="020B0502040204020203" pitchFamily="34" charset="0"/>
              </a:rPr>
              <a:t> Tasks partitioned into specific methods (</a:t>
            </a:r>
            <a:r>
              <a:rPr sz="1125" b="0" i="1" u="none">
                <a:solidFill>
                  <a:srgbClr val="64748B"/>
                </a:solidFill>
                <a:latin typeface="Bahnschrift Condensed" panose="020B0502040204020203" pitchFamily="34" charset="0"/>
              </a:rPr>
              <a:t>addDonor, issueBlood, viewInventory</a:t>
            </a:r>
            <a:r>
              <a:rPr sz="1125" b="0" i="0" u="none">
                <a:solidFill>
                  <a:srgbClr val="334155"/>
                </a:solidFill>
                <a:latin typeface="Bahnschrift Condensed" panose="020B0502040204020203" pitchFamily="34" charset="0"/>
              </a:rPr>
              <a:t>).</a:t>
            </a:r>
          </a:p>
        </p:txBody>
      </p:sp>
      <p:sp>
        <p:nvSpPr>
          <p:cNvPr id="21" name="TextBox 20"/>
          <p:cNvSpPr txBox="1"/>
          <p:nvPr/>
        </p:nvSpPr>
        <p:spPr>
          <a:xfrm>
            <a:off x="6448425" y="2190750"/>
            <a:ext cx="4991100"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Reusable Helpers:</a:t>
            </a:r>
            <a:r>
              <a:rPr sz="1125" b="0" i="0" u="none">
                <a:solidFill>
                  <a:srgbClr val="334155"/>
                </a:solidFill>
                <a:latin typeface="Bahnschrift Condensed" panose="020B0502040204020203" pitchFamily="34" charset="0"/>
              </a:rPr>
              <a:t> Input validation (</a:t>
            </a:r>
            <a:r>
              <a:rPr sz="1125" b="0" i="1" u="none">
                <a:solidFill>
                  <a:srgbClr val="64748B"/>
                </a:solidFill>
                <a:latin typeface="Bahnschrift Condensed" panose="020B0502040204020203" pitchFamily="34" charset="0"/>
              </a:rPr>
              <a:t>readValidBloodGroup</a:t>
            </a:r>
            <a:r>
              <a:rPr sz="1125" b="0" i="0" u="none">
                <a:solidFill>
                  <a:srgbClr val="334155"/>
                </a:solidFill>
                <a:latin typeface="Bahnschrift Condensed" panose="020B0502040204020203" pitchFamily="34" charset="0"/>
              </a:rPr>
              <a:t>) encapsulates repetitive error checks cleanly.</a:t>
            </a:r>
          </a:p>
        </p:txBody>
      </p:sp>
      <p:sp>
        <p:nvSpPr>
          <p:cNvPr id="22" name="TextBox 21"/>
          <p:cNvSpPr txBox="1"/>
          <p:nvPr/>
        </p:nvSpPr>
        <p:spPr>
          <a:xfrm>
            <a:off x="6448425" y="2705100"/>
            <a:ext cx="4991100" cy="188385"/>
          </a:xfrm>
          <a:prstGeom prst="rect">
            <a:avLst/>
          </a:prstGeom>
          <a:noFill/>
        </p:spPr>
        <p:txBody>
          <a:bodyPr wrap="square" lIns="0" tIns="0" rIns="0" bIns="0" anchor="t">
            <a:spAutoFit/>
          </a:bodyPr>
          <a:lstStyle/>
          <a:p>
            <a:pPr algn="l">
              <a:lnSpc>
                <a:spcPts val="1575"/>
              </a:lnSpc>
            </a:pPr>
            <a:r>
              <a:rPr sz="1125" b="1" i="0" u="none">
                <a:solidFill>
                  <a:srgbClr val="0F172A"/>
                </a:solidFill>
                <a:latin typeface="Bahnschrift Condensed" panose="020B0502040204020203" pitchFamily="34" charset="0"/>
              </a:rPr>
              <a:t>Encapsulated Logic:</a:t>
            </a:r>
            <a:r>
              <a:rPr sz="1125" b="0" i="0" u="none">
                <a:solidFill>
                  <a:srgbClr val="334155"/>
                </a:solidFill>
                <a:latin typeface="Bahnschrift Condensed" panose="020B0502040204020203" pitchFamily="34" charset="0"/>
              </a:rPr>
              <a:t> Display methods inside Donor class print formatting consistently.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3" name="Rectangle 2"/>
          <p:cNvSpPr/>
          <p:nvPr/>
        </p:nvSpPr>
        <p:spPr>
          <a:xfrm>
            <a:off x="609600" y="6086475"/>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4" name="Rounded Rectangle 3"/>
          <p:cNvSpPr/>
          <p:nvPr/>
        </p:nvSpPr>
        <p:spPr>
          <a:xfrm>
            <a:off x="10458450" y="504825"/>
            <a:ext cx="1123950" cy="285750"/>
          </a:xfrm>
          <a:prstGeom prst="roundRect">
            <a:avLst>
              <a:gd name="adj" fmla="val 20000"/>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5" name="Rounded Rectangle 4"/>
          <p:cNvSpPr/>
          <p:nvPr/>
        </p:nvSpPr>
        <p:spPr>
          <a:xfrm>
            <a:off x="609600" y="1066800"/>
            <a:ext cx="5334000" cy="4000500"/>
          </a:xfrm>
          <a:prstGeom prst="roundRect">
            <a:avLst>
              <a:gd name="adj" fmla="val 2857"/>
            </a:avLst>
          </a:prstGeom>
          <a:solidFill>
            <a:srgbClr val="FAFAFA"/>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6" name="Rounded Rectangle 5"/>
          <p:cNvSpPr/>
          <p:nvPr/>
        </p:nvSpPr>
        <p:spPr>
          <a:xfrm>
            <a:off x="6248400" y="1066800"/>
            <a:ext cx="5334000" cy="4000500"/>
          </a:xfrm>
          <a:prstGeom prst="roundRect">
            <a:avLst>
              <a:gd name="adj" fmla="val 2857"/>
            </a:avLst>
          </a:prstGeom>
          <a:solidFill>
            <a:srgbClr val="FAFAFA"/>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sp>
        <p:nvSpPr>
          <p:cNvPr id="7" name="Rounded Rectangle 6"/>
          <p:cNvSpPr/>
          <p:nvPr/>
        </p:nvSpPr>
        <p:spPr>
          <a:xfrm>
            <a:off x="609600" y="495300"/>
            <a:ext cx="76200" cy="304800"/>
          </a:xfrm>
          <a:prstGeom prst="roundRect">
            <a:avLst>
              <a:gd name="adj" fmla="val 50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Bahnschrift Light" panose="020B0502040204020203" pitchFamily="34" charset="0"/>
            </a:endParaRPr>
          </a:p>
        </p:txBody>
      </p:sp>
      <p:pic>
        <p:nvPicPr>
          <p:cNvPr id="8" name="Picture 7" descr="image.png"/>
          <p:cNvPicPr>
            <a:picLocks noChangeAspect="1"/>
          </p:cNvPicPr>
          <p:nvPr/>
        </p:nvPicPr>
        <p:blipFill>
          <a:blip r:embed="rId2"/>
          <a:stretch>
            <a:fillRect/>
          </a:stretch>
        </p:blipFill>
        <p:spPr>
          <a:xfrm>
            <a:off x="10572750" y="581025"/>
            <a:ext cx="104775" cy="133350"/>
          </a:xfrm>
          <a:prstGeom prst="rect">
            <a:avLst/>
          </a:prstGeom>
        </p:spPr>
      </p:pic>
      <p:pic>
        <p:nvPicPr>
          <p:cNvPr id="9" name="Picture 8" descr="image.png"/>
          <p:cNvPicPr>
            <a:picLocks noChangeAspect="1"/>
          </p:cNvPicPr>
          <p:nvPr/>
        </p:nvPicPr>
        <p:blipFill>
          <a:blip r:embed="rId3"/>
          <a:stretch>
            <a:fillRect/>
          </a:stretch>
        </p:blipFill>
        <p:spPr>
          <a:xfrm>
            <a:off x="3086100" y="2719387"/>
            <a:ext cx="381000" cy="381000"/>
          </a:xfrm>
          <a:prstGeom prst="rect">
            <a:avLst/>
          </a:prstGeom>
        </p:spPr>
      </p:pic>
      <p:pic>
        <p:nvPicPr>
          <p:cNvPr id="10" name="Picture 9" descr="image.png"/>
          <p:cNvPicPr>
            <a:picLocks noChangeAspect="1"/>
          </p:cNvPicPr>
          <p:nvPr/>
        </p:nvPicPr>
        <p:blipFill>
          <a:blip r:embed="rId4"/>
          <a:stretch>
            <a:fillRect/>
          </a:stretch>
        </p:blipFill>
        <p:spPr>
          <a:xfrm>
            <a:off x="8729662" y="2719387"/>
            <a:ext cx="371475" cy="381000"/>
          </a:xfrm>
          <a:prstGeom prst="rect">
            <a:avLst/>
          </a:prstGeom>
        </p:spPr>
      </p:pic>
      <p:sp>
        <p:nvSpPr>
          <p:cNvPr id="11" name="TextBox 10"/>
          <p:cNvSpPr txBox="1"/>
          <p:nvPr/>
        </p:nvSpPr>
        <p:spPr>
          <a:xfrm>
            <a:off x="609600" y="6248400"/>
            <a:ext cx="2181687" cy="150041"/>
          </a:xfrm>
          <a:prstGeom prst="rect">
            <a:avLst/>
          </a:prstGeom>
          <a:noFill/>
        </p:spPr>
        <p:txBody>
          <a:bodyPr wrap="none" lIns="0" tIns="0" rIns="0" bIns="0" anchor="t">
            <a:spAutoFit/>
          </a:bodyPr>
          <a:lstStyle/>
          <a:p>
            <a:pPr algn="l"/>
            <a:r>
              <a:rPr sz="975" b="0" i="0" u="none">
                <a:solidFill>
                  <a:srgbClr val="64748B"/>
                </a:solidFill>
                <a:latin typeface="Bahnschrift Light" panose="020B0502040204020203" pitchFamily="34" charset="0"/>
              </a:rPr>
              <a:t>Blood Bank Inventory &amp; Donor Matcher</a:t>
            </a:r>
          </a:p>
        </p:txBody>
      </p:sp>
      <p:sp>
        <p:nvSpPr>
          <p:cNvPr id="12" name="TextBox 11"/>
          <p:cNvSpPr txBox="1"/>
          <p:nvPr/>
        </p:nvSpPr>
        <p:spPr>
          <a:xfrm>
            <a:off x="11201400" y="6248400"/>
            <a:ext cx="666750" cy="152400"/>
          </a:xfrm>
          <a:prstGeom prst="rect">
            <a:avLst/>
          </a:prstGeom>
          <a:noFill/>
        </p:spPr>
        <p:txBody>
          <a:bodyPr wrap="none" lIns="0" tIns="0" rIns="0" bIns="0" anchor="t">
            <a:spAutoFit/>
          </a:bodyPr>
          <a:lstStyle/>
          <a:p>
            <a:pPr algn="l"/>
            <a:r>
              <a:rPr sz="975" b="0" i="0" u="none">
                <a:solidFill>
                  <a:srgbClr val="64748B"/>
                </a:solidFill>
                <a:latin typeface="Plus Jakarta Sans"/>
              </a:rPr>
              <a:t>Slide 7</a:t>
            </a:r>
          </a:p>
        </p:txBody>
      </p:sp>
      <p:sp>
        <p:nvSpPr>
          <p:cNvPr id="13" name="TextBox 12"/>
          <p:cNvSpPr txBox="1"/>
          <p:nvPr/>
        </p:nvSpPr>
        <p:spPr>
          <a:xfrm>
            <a:off x="10734675" y="566908"/>
            <a:ext cx="828675" cy="161583"/>
          </a:xfrm>
          <a:prstGeom prst="rect">
            <a:avLst/>
          </a:prstGeom>
          <a:noFill/>
        </p:spPr>
        <p:txBody>
          <a:bodyPr wrap="square" lIns="0" tIns="0" rIns="0" bIns="0" anchor="ctr">
            <a:spAutoFit/>
          </a:bodyPr>
          <a:lstStyle/>
          <a:p>
            <a:pPr algn="l"/>
            <a:r>
              <a:rPr sz="1050" b="1" i="0" u="none">
                <a:solidFill>
                  <a:srgbClr val="991B1B"/>
                </a:solidFill>
                <a:latin typeface="Bahnschrift Light" panose="020B0502040204020203" pitchFamily="34" charset="0"/>
              </a:rPr>
              <a:t>Verification</a:t>
            </a:r>
          </a:p>
        </p:txBody>
      </p:sp>
      <p:sp>
        <p:nvSpPr>
          <p:cNvPr id="14" name="TextBox 13"/>
          <p:cNvSpPr txBox="1"/>
          <p:nvPr/>
        </p:nvSpPr>
        <p:spPr>
          <a:xfrm>
            <a:off x="800100" y="457200"/>
            <a:ext cx="4315284" cy="369332"/>
          </a:xfrm>
          <a:prstGeom prst="rect">
            <a:avLst/>
          </a:prstGeom>
          <a:noFill/>
        </p:spPr>
        <p:txBody>
          <a:bodyPr wrap="none" lIns="0" tIns="0" rIns="0" bIns="0" anchor="t">
            <a:spAutoFit/>
          </a:bodyPr>
          <a:lstStyle/>
          <a:p>
            <a:pPr algn="l"/>
            <a:r>
              <a:rPr sz="2400" b="1" i="0" u="none">
                <a:solidFill>
                  <a:srgbClr val="0F172A"/>
                </a:solidFill>
                <a:latin typeface="Bahnschrift Light" panose="020B0502040204020203" pitchFamily="34" charset="0"/>
              </a:rPr>
              <a:t>Geo Tag Photo and Git Hub Link</a:t>
            </a:r>
          </a:p>
        </p:txBody>
      </p:sp>
      <p:sp>
        <p:nvSpPr>
          <p:cNvPr id="15" name="TextBox 14"/>
          <p:cNvSpPr txBox="1"/>
          <p:nvPr/>
        </p:nvSpPr>
        <p:spPr>
          <a:xfrm>
            <a:off x="2290762" y="3214687"/>
            <a:ext cx="1853071" cy="184666"/>
          </a:xfrm>
          <a:prstGeom prst="rect">
            <a:avLst/>
          </a:prstGeom>
          <a:noFill/>
        </p:spPr>
        <p:txBody>
          <a:bodyPr wrap="none" lIns="0" tIns="0" rIns="0" bIns="0" anchor="t">
            <a:spAutoFit/>
          </a:bodyPr>
          <a:lstStyle/>
          <a:p>
            <a:pPr algn="l"/>
            <a:r>
              <a:rPr sz="1200" b="1" i="0" u="none">
                <a:solidFill>
                  <a:srgbClr val="0F172A"/>
                </a:solidFill>
                <a:latin typeface="Bahnschrift Light" panose="020B0502040204020203" pitchFamily="34" charset="0"/>
              </a:rPr>
              <a:t>Geo Tag Photo Placeholder</a:t>
            </a:r>
          </a:p>
        </p:txBody>
      </p:sp>
      <p:sp>
        <p:nvSpPr>
          <p:cNvPr id="16" name="TextBox 15"/>
          <p:cNvSpPr txBox="1"/>
          <p:nvPr/>
        </p:nvSpPr>
        <p:spPr>
          <a:xfrm>
            <a:off x="7620000" y="3214687"/>
            <a:ext cx="2447786" cy="184666"/>
          </a:xfrm>
          <a:prstGeom prst="rect">
            <a:avLst/>
          </a:prstGeom>
          <a:noFill/>
        </p:spPr>
        <p:txBody>
          <a:bodyPr wrap="none" lIns="0" tIns="0" rIns="0" bIns="0" anchor="t">
            <a:spAutoFit/>
          </a:bodyPr>
          <a:lstStyle/>
          <a:p>
            <a:pPr algn="l"/>
            <a:r>
              <a:rPr sz="1200" b="1" i="0" u="none">
                <a:solidFill>
                  <a:srgbClr val="0F172A"/>
                </a:solidFill>
                <a:latin typeface="Bahnschrift Light" panose="020B0502040204020203" pitchFamily="34" charset="0"/>
              </a:rPr>
              <a:t>GitHub Repository Link Placeholder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736</Words>
  <Application>Microsoft Office PowerPoint</Application>
  <PresentationFormat>Widescreen</PresentationFormat>
  <Paragraphs>74</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Bahnschrift Condensed</vt:lpstr>
      <vt:lpstr>Arial</vt:lpstr>
      <vt:lpstr>Arial Black</vt:lpstr>
      <vt:lpstr>Bahnschrift SemiBold Condensed</vt:lpstr>
      <vt:lpstr>Space Grotesk</vt:lpstr>
      <vt:lpstr>Calibri</vt:lpstr>
      <vt:lpstr>Plus Jakarta Sans</vt:lpstr>
      <vt:lpstr>Showcard Gothic</vt:lpstr>
      <vt:lpstr>Bahnschrift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VIKAS</dc:creator>
  <cp:keywords/>
  <dc:description>generated using python-pptx</dc:description>
  <cp:lastModifiedBy>vikas chinta</cp:lastModifiedBy>
  <cp:revision>4</cp:revision>
  <dcterms:created xsi:type="dcterms:W3CDTF">2013-01-27T09:14:16Z</dcterms:created>
  <dcterms:modified xsi:type="dcterms:W3CDTF">2026-09-19T09:52:13Z</dcterms:modified>
  <cp:category/>
</cp:coreProperties>
</file>